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0abd207396407f" /><Relationship Type="http://schemas.openxmlformats.org/officeDocument/2006/relationships/extended-properties" Target="/docProps/app.xml" Id="R824842298a0845c7" /><Relationship Type="http://schemas.openxmlformats.org/officeDocument/2006/relationships/officeDocument" Target="/ppt/presentation.xml" Id="R1cef009e5d2e46b1" /></Relationships>
</file>

<file path=ppt/presentation.xml><?xml version="1.0" encoding="utf-8"?>
<p:presentation xmlns:p="http://schemas.openxmlformats.org/presentationml/2006/main">
  <p:sldMasterIdLst>
    <p:sldMasterId xmlns:r="http://schemas.openxmlformats.org/officeDocument/2006/relationships" id="2147483648" r:id="R44b5033920c3416e"/>
  </p:sldMasterIdLst>
  <p:notesMasterIdLst>
    <p:notesMasterId xmlns:r="http://schemas.openxmlformats.org/officeDocument/2006/relationships" r:id="R7d1b53267bea4f96"/>
  </p:notesMasterIdLst>
  <p:sldIdLst>
    <p:sldId xmlns:r="http://schemas.openxmlformats.org/officeDocument/2006/relationships" id="256" r:id="R2a46e0d95b9a41d7"/>
    <p:sldId xmlns:r="http://schemas.openxmlformats.org/officeDocument/2006/relationships" id="257" r:id="R3f4813fd61c64951"/>
    <p:sldId xmlns:r="http://schemas.openxmlformats.org/officeDocument/2006/relationships" id="258" r:id="R2c61814788104d3c"/>
    <p:sldId xmlns:r="http://schemas.openxmlformats.org/officeDocument/2006/relationships" id="259" r:id="Rd9624de195784050"/>
    <p:sldId xmlns:r="http://schemas.openxmlformats.org/officeDocument/2006/relationships" id="260" r:id="R135343e1e8e9412b"/>
    <p:sldId xmlns:r="http://schemas.openxmlformats.org/officeDocument/2006/relationships" id="261" r:id="R86c987feb49f4812"/>
    <p:sldId xmlns:r="http://schemas.openxmlformats.org/officeDocument/2006/relationships" id="262" r:id="R3866dd0d913145e7"/>
    <p:sldId xmlns:r="http://schemas.openxmlformats.org/officeDocument/2006/relationships" id="263" r:id="R650795472254457b"/>
    <p:sldId xmlns:r="http://schemas.openxmlformats.org/officeDocument/2006/relationships" id="264" r:id="R2c4310e5dc1f4979"/>
    <p:sldId xmlns:r="http://schemas.openxmlformats.org/officeDocument/2006/relationships" id="265" r:id="R07ae14f5101e444b"/>
    <p:sldId xmlns:r="http://schemas.openxmlformats.org/officeDocument/2006/relationships" id="266" r:id="R3a08eb82d5954760"/>
    <p:sldId xmlns:r="http://schemas.openxmlformats.org/officeDocument/2006/relationships" id="267" r:id="R3098e5bb68c945d7"/>
    <p:sldId xmlns:r="http://schemas.openxmlformats.org/officeDocument/2006/relationships" id="268" r:id="R4fb1391c822e4797"/>
    <p:sldId xmlns:r="http://schemas.openxmlformats.org/officeDocument/2006/relationships" id="269" r:id="Rf4594adcb42147c5"/>
    <p:sldId xmlns:r="http://schemas.openxmlformats.org/officeDocument/2006/relationships" id="270" r:id="Rcd3b595a9d4f4359"/>
    <p:sldId xmlns:r="http://schemas.openxmlformats.org/officeDocument/2006/relationships" id="271" r:id="Rdf614546ae7e4e5b"/>
    <p:sldId xmlns:r="http://schemas.openxmlformats.org/officeDocument/2006/relationships" id="272" r:id="R7ddd80020b6d41a3"/>
    <p:sldId xmlns:r="http://schemas.openxmlformats.org/officeDocument/2006/relationships" id="273" r:id="Re2b12eae44de47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62e015f57842e5" /><Relationship Type="http://schemas.openxmlformats.org/officeDocument/2006/relationships/slideMaster" Target="/ppt/slideMasters/slideMaster1.xml" Id="R44b5033920c3416e" /><Relationship Type="http://schemas.openxmlformats.org/officeDocument/2006/relationships/notesMaster" Target="/ppt/notesMasters/notesMaster1.xml" Id="R7d1b53267bea4f96" /><Relationship Type="http://schemas.openxmlformats.org/officeDocument/2006/relationships/presProps" Target="/ppt/presProps.xml" Id="Rbc58f3e5f33b4734" /><Relationship Type="http://schemas.openxmlformats.org/officeDocument/2006/relationships/tableStyles" Target="/ppt/tableStyles.xml" Id="R035fa65cce804f27" /><Relationship Type="http://schemas.openxmlformats.org/officeDocument/2006/relationships/slide" Target="/ppt/slides/slide1.xml" Id="R2a46e0d95b9a41d7" /><Relationship Type="http://schemas.openxmlformats.org/officeDocument/2006/relationships/slide" Target="/ppt/slides/slide2.xml" Id="R3f4813fd61c64951" /><Relationship Type="http://schemas.openxmlformats.org/officeDocument/2006/relationships/slide" Target="/ppt/slides/slide3.xml" Id="R2c61814788104d3c" /><Relationship Type="http://schemas.openxmlformats.org/officeDocument/2006/relationships/slide" Target="/ppt/slides/slide4.xml" Id="Rd9624de195784050" /><Relationship Type="http://schemas.openxmlformats.org/officeDocument/2006/relationships/slide" Target="/ppt/slides/slide5.xml" Id="R135343e1e8e9412b" /><Relationship Type="http://schemas.openxmlformats.org/officeDocument/2006/relationships/slide" Target="/ppt/slides/slide6.xml" Id="R86c987feb49f4812" /><Relationship Type="http://schemas.openxmlformats.org/officeDocument/2006/relationships/slide" Target="/ppt/slides/slide7.xml" Id="R3866dd0d913145e7" /><Relationship Type="http://schemas.openxmlformats.org/officeDocument/2006/relationships/slide" Target="/ppt/slides/slide8.xml" Id="R650795472254457b" /><Relationship Type="http://schemas.openxmlformats.org/officeDocument/2006/relationships/slide" Target="/ppt/slides/slide9.xml" Id="R2c4310e5dc1f4979" /><Relationship Type="http://schemas.openxmlformats.org/officeDocument/2006/relationships/slide" Target="/ppt/slides/slide10.xml" Id="R07ae14f5101e444b" /><Relationship Type="http://schemas.openxmlformats.org/officeDocument/2006/relationships/slide" Target="/ppt/slides/slide11.xml" Id="R3a08eb82d5954760" /><Relationship Type="http://schemas.openxmlformats.org/officeDocument/2006/relationships/slide" Target="/ppt/slides/slide12.xml" Id="R3098e5bb68c945d7" /><Relationship Type="http://schemas.openxmlformats.org/officeDocument/2006/relationships/slide" Target="/ppt/slides/slide13.xml" Id="R4fb1391c822e4797" /><Relationship Type="http://schemas.openxmlformats.org/officeDocument/2006/relationships/slide" Target="/ppt/slides/slide14.xml" Id="Rf4594adcb42147c5" /><Relationship Type="http://schemas.openxmlformats.org/officeDocument/2006/relationships/slide" Target="/ppt/slides/slide15.xml" Id="Rcd3b595a9d4f4359" /><Relationship Type="http://schemas.openxmlformats.org/officeDocument/2006/relationships/slide" Target="/ppt/slides/slide16.xml" Id="Rdf614546ae7e4e5b" /><Relationship Type="http://schemas.openxmlformats.org/officeDocument/2006/relationships/slide" Target="/ppt/slides/slide17.xml" Id="R7ddd80020b6d41a3" /><Relationship Type="http://schemas.openxmlformats.org/officeDocument/2006/relationships/slide" Target="/ppt/slides/slide18.xml" Id="Re2b12eae44de47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62a106b2e643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5a404e18074f72" /><Relationship Type="http://schemas.openxmlformats.org/officeDocument/2006/relationships/notesMaster" Target="/ppt/notesMasters/notesMaster1.xml" Id="Ra0f1ef3ee2bc49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ad99bb52734c76" /><Relationship Type="http://schemas.openxmlformats.org/officeDocument/2006/relationships/notesMaster" Target="/ppt/notesMasters/notesMaster1.xml" Id="R7734f53ce4004a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133149f15546df" /><Relationship Type="http://schemas.openxmlformats.org/officeDocument/2006/relationships/notesMaster" Target="/ppt/notesMasters/notesMaster1.xml" Id="R1ee963e4cb3943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45227c004f45fc" /><Relationship Type="http://schemas.openxmlformats.org/officeDocument/2006/relationships/notesMaster" Target="/ppt/notesMasters/notesMaster1.xml" Id="Rf7ace9f0a1a347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5feb0284634d7e" /><Relationship Type="http://schemas.openxmlformats.org/officeDocument/2006/relationships/notesMaster" Target="/ppt/notesMasters/notesMaster1.xml" Id="R4c45eac9ce2f4f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59f28905564b6c" /><Relationship Type="http://schemas.openxmlformats.org/officeDocument/2006/relationships/notesMaster" Target="/ppt/notesMasters/notesMaster1.xml" Id="R98b3396d21054e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d9f0f6390f496f" /><Relationship Type="http://schemas.openxmlformats.org/officeDocument/2006/relationships/notesMaster" Target="/ppt/notesMasters/notesMaster1.xml" Id="R16c6bd47f15d47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18c7726d644eae" /><Relationship Type="http://schemas.openxmlformats.org/officeDocument/2006/relationships/notesMaster" Target="/ppt/notesMasters/notesMaster1.xml" Id="Rc8dc318fc4d049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4cafd7bc15408f" /><Relationship Type="http://schemas.openxmlformats.org/officeDocument/2006/relationships/notesMaster" Target="/ppt/notesMasters/notesMaster1.xml" Id="R60a00ddb71b547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b83eb13a6048ea" /><Relationship Type="http://schemas.openxmlformats.org/officeDocument/2006/relationships/notesMaster" Target="/ppt/notesMasters/notesMaster1.xml" Id="Rcda6726e09ac49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29d3b844c74321" /><Relationship Type="http://schemas.openxmlformats.org/officeDocument/2006/relationships/notesMaster" Target="/ppt/notesMasters/notesMaster1.xml" Id="R6ce47600fa0d47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a24e570362463f" /><Relationship Type="http://schemas.openxmlformats.org/officeDocument/2006/relationships/notesMaster" Target="/ppt/notesMasters/notesMaster1.xml" Id="R1a146d1ce52e46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b090a0cd824f29" /><Relationship Type="http://schemas.openxmlformats.org/officeDocument/2006/relationships/notesMaster" Target="/ppt/notesMasters/notesMaster1.xml" Id="R033ee8cb882649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5c35d7cbe1479f" /><Relationship Type="http://schemas.openxmlformats.org/officeDocument/2006/relationships/notesMaster" Target="/ppt/notesMasters/notesMaster1.xml" Id="Raf5162def7e349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fd9abc35ff4dbe" /><Relationship Type="http://schemas.openxmlformats.org/officeDocument/2006/relationships/notesMaster" Target="/ppt/notesMasters/notesMaster1.xml" Id="Rc72cf78084c240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e47e7003004d38" /><Relationship Type="http://schemas.openxmlformats.org/officeDocument/2006/relationships/notesMaster" Target="/ppt/notesMasters/notesMaster1.xml" Id="R5d485d5f6efe46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27d3e78b5f4e22" /><Relationship Type="http://schemas.openxmlformats.org/officeDocument/2006/relationships/notesMaster" Target="/ppt/notesMasters/notesMaster1.xml" Id="R5996218ea5004da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8d9132d0624fe3" /><Relationship Type="http://schemas.openxmlformats.org/officeDocument/2006/relationships/notesMaster" Target="/ppt/notesMasters/notesMaster1.xml" Id="Rd337c9d1eeeb4c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college demonstration of supervised binary classification and local deployment. Customer churn means leaving the bank. Source: README.md and app.py in https://github.com/ShabbirMhowwala/Bank-Churn-Rate-Predictor. The deck describes the model trained on 23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early identification can help a retention team prioritize review. The project does not prove that contacting a customer prevents churn. The dataset provides no specific future time horizon. Sources: README.md; data/bank_customer_churn.csv.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is the application language. Keras provides the model interface on TensorFlow. Streamlit supplies the web interface and Python server. The project uses no Flask/Django service, SQL database, or external inference API. Sources: requirements.txt; requirements-local-lock.txt; components/; utils/.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CSV has 10,000 rows, 14 columns, and no missing values. It includes France, Germany, and Spain. The source provenance and monetary currency are not documented in the repository. Class imbalance means a high accuracy can be misleading. Sources: data/bank_customer_churn.csv; local_verification.json.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field using the sample CSV. Identifiers do not enter the network. Geography and gender are categorical. The other eight original inputs are numeric or binary. Sources: data/sample_customers.csv; utils/preprocessing.py; pages/2_Predict.py.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engineered features join the ten raw inputs. Zero salary, product count, and tenure are replaced with one in their respective ratios. StandardScaler learns numeric means and standard deviations. OneHotEncoder creates three country and two gender columns. Prediction must reuse exactly these transformations. The high-value flag uses the reference dataset median, 97,198.54. Source: utils/preprocessing.py; utils/app_data.py; local_verification.json.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Dense layers learn weighted combinations of inputs. ReLU introduces nonlinearity. Batch normalization stabilizes intermediate activations. Dropout acts during training, while sigmoid maps the final value into the interval zero to one. Total parameters are 4,097 including batch-normalization state. Sources: train_model.py build_model(); local_verification.json.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batch contains 64 examples. An epoch is a full pass over the training examples. Adam minimizes binary cross-entropy using a learning rate of 0.001. Class weights increase the contribution of the minority churn class. The script fixes the split seed but does not fully seed network initialization or training. Sources: train_model.py; local_training.log.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script reserves 20% for test with stratify=y and random_state=42. Keras takes 15% of the remaining 8,000 examples for validation. It monitors val_auc in max mode, patience eight, and restores best weights. The current preprocessing order has leakage limitations described on slide 17. Source: 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uses the recorded epoch metrics from local_training.log, not invented values. Validation AUC guides early stopping. The final restored weights can come from an earlier epoch than the last one. Avoid interpreting training/validation similarity as proof of generalization because the preprocessing split needs improvement. Sources: local_training.log; 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Scores come from the reloaded local model on 2,000 test records. Accuracy is overall correctness. Precision measures how many churn alerts are correct. Recall measures how many actual churners the model catches. AUC measures ranking across thresholds. The always-stayed baseline achieves 79.65% accuracy and zero churn recall. Sources: local_verification.json; models/test_predictions.csv.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set contains 1,593 stayed and 407 exited customers. True negatives=1,239, false positives=354, false negatives=98, true positives=309. Precision=309/(309+354), recall=309/(309+98). The binary decision threshold is 0.50. Business costs of outreach and missed churn would guide threshold selection. Sources: models/test_predictions.csv; local_verification.json.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form submission becomes a one-row DataFrame. Feature engineering uses the reference dataset median, then the saved scaler and encoder transform the inputs. The saved ANN returns a score. The evaluation threshold is 0.50, while display categories use 0.35 and 0.65. A score is neither a confidence guarantee nor an accuracy percentage. The explanation/action text is hand-written logic. Sources: utils/app_data.py; pages/2_Predict.py.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screenshot, then switch to the live demo if available. Explain that the dataset count and churn rate describe historical customers. AUC and recall come from the saved test results. Analytics filters operate on the CSV and do not fetch live bank records. Source: assets/local_dashboard.png; app.py; pages/3_Analytics.py.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the default input profile with a 29.4% score and Stable category. Enter all values from sample_customers.csv for exact examples: row 2 produces 98.72% High Risk and row 3 produces 7.57% Stable for this included saved model. Changing one input does not guarantee a specific direction of score change. Sources: assets/local_prediction.png; data/sample_customers.csv; local_verification.json.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is installed in D:\Bank-Churn-Rate-Predictor. Its .venv uses the existing Python 3.12 installation. Install from requirements-local-lock.txt to match the tested Windows package set. Run_Project.bat launches the server and browser. Keep its window open or use Stop_Project.bat to stop. Models remain on disk after restart. No retraining or external inference API is needed for everyday use. Sources: Run_Project.bat; Stop_Project.ps1; .streamlit/config.toml; LOCAL_SETUP.md.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preprocessing leakage: the high-value median uses the full dataset before train/test splitting, and preprocessing fits on all development rows before the validation split. Split raw records first and learn statistics on training only. The current churn precision is 46.61%. Compare logistic regression and tree-based models. Tune thresholds and calibrate probabilities using independent data. Rules and correlations do not explain neural decisions. The app is an educational prototype. Sources: train_model.py; utils/app_data.py; 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implemented system rather than overstating prediction quality. It demonstrates the full workflow from labeled CSV data to preprocessing, model training, evaluation, and a local browser app. The included model catches about 76% of churn cases with about 47% precision. Invite questions about preprocessing, dropout, sigmoid, class imbalance, or local deployment. Sources: README.md; PROJECT_GUIDE.md; local_verification.json.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feae24403c4c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a53e1729384d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ff4491e39446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2511bb14234e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70b86673fa45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539c4758eb4f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7FED6-5782-4AC8-B4D5-D10164AA1B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76FF6E-4E97-4354-A3D2-445A0174E8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D916DB-7B34-42DC-8D15-6A97ACA4692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633EA0-26ED-4621-BAFF-B66CC705DE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968C6B-99E7-4542-81D0-0032DFE48B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A6A96B-8426-4C5B-9360-09768AFB37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E5905C-A86C-479B-B76D-8D1AF8B636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6BACAE-8B7C-43B9-9CAA-B35C3C0DAD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F2071C-EBA1-4B68-88CA-BD18C34A7C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C984CB-A27F-45FB-A3DA-384F3A27FE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40874c0479446b" /><Relationship Type="http://schemas.openxmlformats.org/officeDocument/2006/relationships/slideLayout" Target="/ppt/slideLayouts/slideLayout1.xml" Id="R3ec6a783c63845c3" /><Relationship Type="http://schemas.openxmlformats.org/officeDocument/2006/relationships/slideLayout" Target="/ppt/slideLayouts/slideLayout2.xml" Id="R61cb48cbc3324f5c" /><Relationship Type="http://schemas.openxmlformats.org/officeDocument/2006/relationships/slideLayout" Target="/ppt/slideLayouts/slideLayout3.xml" Id="Rf087ac9a7fbf4462" /><Relationship Type="http://schemas.openxmlformats.org/officeDocument/2006/relationships/slideLayout" Target="/ppt/slideLayouts/slideLayout4.xml" Id="Ref8748ec0fe94bcb" /><Relationship Type="http://schemas.openxmlformats.org/officeDocument/2006/relationships/slideLayout" Target="/ppt/slideLayouts/slideLayout5.xml" Id="Reb27937615334587" /><Relationship Type="http://schemas.openxmlformats.org/officeDocument/2006/relationships/slideLayout" Target="/ppt/slideLayouts/slideLayout6.xml" Id="R75adb2c4a06940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c6a783c63845c3"/>
    <p:sldLayoutId xmlns:r="http://schemas.openxmlformats.org/officeDocument/2006/relationships" id="2147483650" r:id="R61cb48cbc3324f5c"/>
    <p:sldLayoutId xmlns:r="http://schemas.openxmlformats.org/officeDocument/2006/relationships" id="2147483651" r:id="Rf087ac9a7fbf4462"/>
    <p:sldLayoutId xmlns:r="http://schemas.openxmlformats.org/officeDocument/2006/relationships" id="2147483652" r:id="Ref8748ec0fe94bcb"/>
    <p:sldLayoutId xmlns:r="http://schemas.openxmlformats.org/officeDocument/2006/relationships" id="2147483653" r:id="Reb27937615334587"/>
    <p:sldLayoutId xmlns:r="http://schemas.openxmlformats.org/officeDocument/2006/relationships" id="2147483654" r:id="R75adb2c4a06940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d88a0eb05d40fa" /><Relationship Type="http://schemas.openxmlformats.org/officeDocument/2006/relationships/notesSlide" Target="/ppt/notesSlides/notesSlide1.xml" Id="R626b84d044cd4d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8695407dc14259" /><Relationship Type="http://schemas.openxmlformats.org/officeDocument/2006/relationships/notesSlide" Target="/ppt/notesSlides/notesSlide2.xml" Id="R3996acfc3ff240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2cecf1ff5b4391" /><Relationship Type="http://schemas.openxmlformats.org/officeDocument/2006/relationships/notesSlide" Target="/ppt/notesSlides/notesSlide3.xml" Id="Rfbe4167841fa42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ea223374634f55" /><Relationship Type="http://schemas.openxmlformats.org/officeDocument/2006/relationships/chart" Target="/ppt/slides/charts/chart1.xml" Id="R5573bcb73bb44ad7" /><Relationship Type="http://schemas.openxmlformats.org/officeDocument/2006/relationships/notesSlide" Target="/ppt/notesSlides/notesSlide4.xml" Id="R67fdc9b771d340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349509b6b9471b" /><Relationship Type="http://schemas.openxmlformats.org/officeDocument/2006/relationships/notesSlide" Target="/ppt/notesSlides/notesSlide5.xml" Id="Rc0e03fce301347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a9b34812fe4c66" /><Relationship Type="http://schemas.openxmlformats.org/officeDocument/2006/relationships/notesSlide" Target="/ppt/notesSlides/notesSlide6.xml" Id="Ra66d60e12bed41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ae7f78420044f1" /><Relationship Type="http://schemas.openxmlformats.org/officeDocument/2006/relationships/notesSlide" Target="/ppt/notesSlides/notesSlide7.xml" Id="R44dcf232b9e545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c38468a872497c" /><Relationship Type="http://schemas.openxmlformats.org/officeDocument/2006/relationships/notesSlide" Target="/ppt/notesSlides/notesSlide8.xml" Id="R44820fa2508449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f136a23b4a643e8" /><Relationship Type="http://schemas.openxmlformats.org/officeDocument/2006/relationships/notesSlide" Target="/ppt/notesSlides/notesSlide9.xml" Id="R01d30767abe74e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e261857e76947a9" /><Relationship Type="http://schemas.openxmlformats.org/officeDocument/2006/relationships/chart" Target="/ppt/slides/charts/chart2.xml" Id="Rc33b34145dc64391" /><Relationship Type="http://schemas.openxmlformats.org/officeDocument/2006/relationships/notesSlide" Target="/ppt/notesSlides/notesSlide10.xml" Id="R276d7c00534945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c50616f82e74119" /><Relationship Type="http://schemas.openxmlformats.org/officeDocument/2006/relationships/chart" Target="/ppt/slides/charts/chart3.xml" Id="R1847d2659eed4879" /><Relationship Type="http://schemas.openxmlformats.org/officeDocument/2006/relationships/notesSlide" Target="/ppt/notesSlides/notesSlide11.xml" Id="R374607aef37143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303720400d4b53" /><Relationship Type="http://schemas.openxmlformats.org/officeDocument/2006/relationships/notesSlide" Target="/ppt/notesSlides/notesSlide12.xml" Id="R979fab09b09e4b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e68498430df4fbf" /><Relationship Type="http://schemas.openxmlformats.org/officeDocument/2006/relationships/notesSlide" Target="/ppt/notesSlides/notesSlide13.xml" Id="R3bed1c5f41124a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66112a0e174950" /><Relationship Type="http://schemas.openxmlformats.org/officeDocument/2006/relationships/image" Target="/ppt/media/image.png" Id="Re00282c5734e426e" /><Relationship Type="http://schemas.openxmlformats.org/officeDocument/2006/relationships/notesSlide" Target="/ppt/notesSlides/notesSlide14.xml" Id="R0cce9dd59e244ef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b3793b60364a8f" /><Relationship Type="http://schemas.openxmlformats.org/officeDocument/2006/relationships/image" Target="/ppt/media/image2.png" Id="Rdd333a9f79af409d" /><Relationship Type="http://schemas.openxmlformats.org/officeDocument/2006/relationships/notesSlide" Target="/ppt/notesSlides/notesSlide15.xml" Id="Rb5ec1662547f408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7fd7e64a8494e9c" /><Relationship Type="http://schemas.openxmlformats.org/officeDocument/2006/relationships/notesSlide" Target="/ppt/notesSlides/notesSlide16.xml" Id="Rf92ed02ba9864f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ef96253308b467d" /><Relationship Type="http://schemas.openxmlformats.org/officeDocument/2006/relationships/notesSlide" Target="/ppt/notesSlides/notesSlide17.xml" Id="Rc32436df710140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90e20e686f843b3" /><Relationship Type="http://schemas.openxmlformats.org/officeDocument/2006/relationships/notesSlide" Target="/ppt/notesSlides/notesSlide18.xml" Id="R8872f0e25d8a497e" /></Relationships>
</file>

<file path=ppt/slides/charts/chart1.xml><?xml version="1.0" encoding="utf-8"?>
<c:chartSpace xmlns:c="http://schemas.openxmlformats.org/drawingml/2006/chart">
  <c:lang val="en-US"/>
  <c:chart>
    <c:plotArea>
      <c:barChart>
        <c:barDir val="col"/>
        <c:varyColors val="0"/>
        <c:ser>
          <c:idx val="0"/>
          <c:order val="0"/>
          <c:tx>
            <c:v>Customers</c:v>
          </c:tx>
          <c:invertIfNegative val="0"/>
          <c:dPt>
            <c:idx val="0"/>
            <c:invertIfNegative val="0"/>
            <c:spPr>
              <a:solidFill xmlns:a="http://schemas.openxmlformats.org/drawingml/2006/main">
                <a:srgbClr val="087E8B"/>
              </a:solidFill>
            </c:spPr>
          </c:dPt>
          <c:dPt>
            <c:idx val="1"/>
            <c:invertIfNegative val="0"/>
            <c:spPr>
              <a:solidFill xmlns:a="http://schemas.openxmlformats.org/drawingml/2006/main">
                <a:srgbClr val="6D28D9"/>
              </a:solidFill>
            </c:spPr>
          </c:dPt>
          <c:cat>
            <c:strLit>
              <c:ptCount val="2"/>
              <c:pt idx="0">
                <c:v>Stayed</c:v>
              </c:pt>
              <c:pt idx="1">
                <c:v>Exited</c:v>
              </c:pt>
            </c:strLit>
          </c:cat>
          <c:val>
            <c:numLit>
              <c:formatCode>General</c:formatCode>
              <c:ptCount val="2"/>
              <c:pt idx="0">
                <c:v>7963</c:v>
              </c:pt>
              <c:pt idx="1">
                <c:v>2037</c:v>
              </c:pt>
            </c:numLit>
          </c:val>
        </c:ser>
        <c:dLbls>
          <c:numFmt formatCode="#,##0" sourceLinked="0"/>
          <c:txPr>
            <a:bodyPr xmlns:a="http://schemas.openxmlformats.org/drawingml/2006/main" anchorCtr="1"/>
            <a:lstStyle xmlns:a="http://schemas.openxmlformats.org/drawingml/2006/main"/>
            <a:p xmlns:a="http://schemas.openxmlformats.org/drawingml/2006/main">
              <a:pPr>
                <a:defRPr sz="2025" b="1">
                  <a:solidFill>
                    <a:srgbClr val="10243A"/>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8"/>
            </a:solidFill>
          </a:ln>
        </c:spPr>
        <c:txPr>
          <a:bodyPr xmlns:a="http://schemas.openxmlformats.org/drawingml/2006/main" anchorCtr="1"/>
          <a:lstStyle xmlns:a="http://schemas.openxmlformats.org/drawingml/2006/main"/>
          <a:p xmlns:a="http://schemas.openxmlformats.org/drawingml/2006/main">
            <a:pPr>
              <a:defRPr sz="1800">
                <a:solidFill>
                  <a:srgbClr val="243B53"/>
                </a:solidFill>
                <a:latin typeface="Arial"/>
                <a:ea typeface="Arial"/>
                <a:cs typeface="Arial"/>
              </a:defRPr>
            </a:pPr>
          </a:p>
        </c:txPr>
        <c:crossAx val="48672768"/>
      </c:catAx>
      <c:valAx>
        <c:axId val="48672768"/>
        <c:scaling>
          <c:orientation val="minMax"/>
          <c:max val="10000"/>
          <c:min val="0"/>
        </c:scaling>
        <c:delete val="0"/>
        <c:axPos val="l"/>
        <c:majorGridlines>
          <c:spPr>
            <a:ln xmlns:a="http://schemas.openxmlformats.org/drawingml/2006/main" w="9525">
              <a:solidFill>
                <a:srgbClr val="DFE7EF"/>
              </a:solidFill>
            </a:ln>
          </c:spPr>
        </c:majorGridlines>
        <c:numFmt formatCode="General"/>
        <c:majorTickMark val="none"/>
        <c:minorTickMark val="none"/>
        <c:spPr>
          <a:ln xmlns:a="http://schemas.openxmlformats.org/drawingml/2006/main" w="9525">
            <a:solidFill>
              <a:srgbClr val="B9C9D8"/>
            </a:solidFill>
          </a:ln>
        </c:spPr>
        <c:txPr>
          <a:bodyPr xmlns:a="http://schemas.openxmlformats.org/drawingml/2006/main" anchorCtr="1"/>
          <a:lstStyle xmlns:a="http://schemas.openxmlformats.org/drawingml/2006/main"/>
          <a:p xmlns:a="http://schemas.openxmlformats.org/drawingml/2006/main">
            <a:pPr>
              <a:defRPr sz="1800">
                <a:solidFill>
                  <a:srgbClr val="243B53"/>
                </a:solidFill>
                <a:latin typeface="Arial"/>
                <a:ea typeface="Arial"/>
                <a:cs typeface="Arial"/>
              </a:defRPr>
            </a:pPr>
          </a:p>
        </c:txPr>
        <c:crossAx val="48650112"/>
        <c:crossBetween val="between"/>
        <c:majorUnit val="2000"/>
      </c:valAx>
    </c:plotArea>
    <c:plotVisOnly val="1"/>
  </c:chart>
</c:chartSpace>
</file>

<file path=ppt/slides/charts/chart2.xml><?xml version="1.0" encoding="utf-8"?>
<c:chartSpace xmlns:c="http://schemas.openxmlformats.org/drawingml/2006/chart">
  <c:lang val="en-US"/>
  <c:chart>
    <c:plotArea>
      <c:lineChart>
        <c:grouping val="standard"/>
        <c:varyColors val="0"/>
        <c:ser>
          <c:idx val="0"/>
          <c:order val="0"/>
          <c:tx>
            <c:v>Training AUC</c:v>
          </c:tx>
          <c:spPr>
            <a:ln xmlns:a="http://schemas.openxmlformats.org/drawingml/2006/main" w="28575">
              <a:solidFill>
                <a:srgbClr val="087E8B"/>
              </a:solidFill>
            </a:ln>
          </c:spPr>
          <c:marker>
            <c:symbol val="none"/>
          </c:marker>
          <c:cat>
            <c:numLit>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Lit>
          </c:cat>
          <c:val>
            <c:numLit>
              <c:formatCode>0.0</c:formatCode>
              <c:ptCount val="32"/>
              <c:pt idx="0">
                <c:v>0.6678</c:v>
              </c:pt>
              <c:pt idx="1">
                <c:v>0.7608</c:v>
              </c:pt>
              <c:pt idx="2">
                <c:v>0.7969</c:v>
              </c:pt>
              <c:pt idx="3">
                <c:v>0.8041</c:v>
              </c:pt>
              <c:pt idx="4">
                <c:v>0.822</c:v>
              </c:pt>
              <c:pt idx="5">
                <c:v>0.8326</c:v>
              </c:pt>
              <c:pt idx="6">
                <c:v>0.8303</c:v>
              </c:pt>
              <c:pt idx="7">
                <c:v>0.8354</c:v>
              </c:pt>
              <c:pt idx="8">
                <c:v>0.8389</c:v>
              </c:pt>
              <c:pt idx="9">
                <c:v>0.8429</c:v>
              </c:pt>
              <c:pt idx="10">
                <c:v>0.8379</c:v>
              </c:pt>
              <c:pt idx="11">
                <c:v>0.8452</c:v>
              </c:pt>
              <c:pt idx="12">
                <c:v>0.846</c:v>
              </c:pt>
              <c:pt idx="13">
                <c:v>0.8469</c:v>
              </c:pt>
              <c:pt idx="14">
                <c:v>0.8513</c:v>
              </c:pt>
              <c:pt idx="15">
                <c:v>0.8517</c:v>
              </c:pt>
              <c:pt idx="16">
                <c:v>0.852</c:v>
              </c:pt>
              <c:pt idx="17">
                <c:v>0.8576</c:v>
              </c:pt>
              <c:pt idx="18">
                <c:v>0.858</c:v>
              </c:pt>
              <c:pt idx="19">
                <c:v>0.8497</c:v>
              </c:pt>
              <c:pt idx="20">
                <c:v>0.8574</c:v>
              </c:pt>
              <c:pt idx="21">
                <c:v>0.8588</c:v>
              </c:pt>
              <c:pt idx="22">
                <c:v>0.8582</c:v>
              </c:pt>
              <c:pt idx="23">
                <c:v>0.8575</c:v>
              </c:pt>
              <c:pt idx="24">
                <c:v>0.8642</c:v>
              </c:pt>
              <c:pt idx="25">
                <c:v>0.8604</c:v>
              </c:pt>
              <c:pt idx="26">
                <c:v>0.8585</c:v>
              </c:pt>
              <c:pt idx="27">
                <c:v>0.8658</c:v>
              </c:pt>
              <c:pt idx="28">
                <c:v>0.8602</c:v>
              </c:pt>
              <c:pt idx="29">
                <c:v>0.862</c:v>
              </c:pt>
              <c:pt idx="30">
                <c:v>0.8688</c:v>
              </c:pt>
              <c:pt idx="31">
                <c:v>0.8676</c:v>
              </c:pt>
            </c:numLit>
          </c:val>
        </c:ser>
        <c:ser>
          <c:idx val="1"/>
          <c:order val="1"/>
          <c:tx>
            <c:v>Validation AUC</c:v>
          </c:tx>
          <c:spPr>
            <a:ln xmlns:a="http://schemas.openxmlformats.org/drawingml/2006/main" w="28575">
              <a:solidFill>
                <a:srgbClr val="6D28D9"/>
              </a:solidFill>
            </a:ln>
          </c:spPr>
          <c:marker>
            <c:symbol val="none"/>
          </c:marker>
          <c:cat>
            <c:numLit>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Lit>
          </c:cat>
          <c:val>
            <c:numLit>
              <c:formatCode>0.0</c:formatCode>
              <c:ptCount val="32"/>
              <c:pt idx="0">
                <c:v>0.8002</c:v>
              </c:pt>
              <c:pt idx="1">
                <c:v>0.8323</c:v>
              </c:pt>
              <c:pt idx="2">
                <c:v>0.8524</c:v>
              </c:pt>
              <c:pt idx="3">
                <c:v>0.8648</c:v>
              </c:pt>
              <c:pt idx="4">
                <c:v>0.871</c:v>
              </c:pt>
              <c:pt idx="5">
                <c:v>0.87</c:v>
              </c:pt>
              <c:pt idx="6">
                <c:v>0.8748</c:v>
              </c:pt>
              <c:pt idx="7">
                <c:v>0.8743</c:v>
              </c:pt>
              <c:pt idx="8">
                <c:v>0.8746</c:v>
              </c:pt>
              <c:pt idx="9">
                <c:v>0.8773</c:v>
              </c:pt>
              <c:pt idx="10">
                <c:v>0.8764</c:v>
              </c:pt>
              <c:pt idx="11">
                <c:v>0.8748</c:v>
              </c:pt>
              <c:pt idx="12">
                <c:v>0.8778</c:v>
              </c:pt>
              <c:pt idx="13">
                <c:v>0.8769</c:v>
              </c:pt>
              <c:pt idx="14">
                <c:v>0.876</c:v>
              </c:pt>
              <c:pt idx="15">
                <c:v>0.8755</c:v>
              </c:pt>
              <c:pt idx="16">
                <c:v>0.8767</c:v>
              </c:pt>
              <c:pt idx="17">
                <c:v>0.8773</c:v>
              </c:pt>
              <c:pt idx="18">
                <c:v>0.877</c:v>
              </c:pt>
              <c:pt idx="19">
                <c:v>0.8741</c:v>
              </c:pt>
              <c:pt idx="20">
                <c:v>0.8779</c:v>
              </c:pt>
              <c:pt idx="21">
                <c:v>0.8764</c:v>
              </c:pt>
              <c:pt idx="22">
                <c:v>0.8758</c:v>
              </c:pt>
              <c:pt idx="23">
                <c:v>0.8785</c:v>
              </c:pt>
              <c:pt idx="24">
                <c:v>0.8779</c:v>
              </c:pt>
              <c:pt idx="25">
                <c:v>0.8777</c:v>
              </c:pt>
              <c:pt idx="26">
                <c:v>0.878</c:v>
              </c:pt>
              <c:pt idx="27">
                <c:v>0.8746</c:v>
              </c:pt>
              <c:pt idx="28">
                <c:v>0.877</c:v>
              </c:pt>
              <c:pt idx="29">
                <c:v>0.878</c:v>
              </c:pt>
              <c:pt idx="30">
                <c:v>0.8767</c:v>
              </c:pt>
              <c:pt idx="31">
                <c:v>0.8773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title>
        <c:numFmt formatCode="General"/>
        <c:majorTickMark val="none"/>
        <c:minorTickMark val="none"/>
        <c:spPr>
          <a:ln xmlns:a="http://schemas.openxmlformats.org/drawingml/2006/main" w="9525">
            <a:solidFill>
              <a:srgbClr val="B9C9D8"/>
            </a:solidFill>
          </a:ln>
        </c:spPr>
        <c:txPr>
          <a:bodyPr xmlns:a="http://schemas.openxmlformats.org/drawingml/2006/main" anchorCtr="1"/>
          <a:lstStyle xmlns:a="http://schemas.openxmlformats.org/drawingml/2006/main"/>
          <a:p xmlns:a="http://schemas.openxmlformats.org/drawingml/2006/main">
            <a:pPr>
              <a:defRPr sz="1800">
                <a:solidFill>
                  <a:srgbClr val="243B53"/>
                </a:solidFill>
                <a:latin typeface="Arial"/>
                <a:ea typeface="Arial"/>
                <a:cs typeface="Arial"/>
              </a:defRPr>
            </a:pPr>
          </a:p>
        </c:txPr>
        <c:crossAx val="48672768"/>
      </c:catAx>
      <c:valAx>
        <c:axId val="48672768"/>
        <c:scaling>
          <c:orientation val="minMax"/>
          <c:max val="0.9"/>
          <c:min val="0.6"/>
        </c:scaling>
        <c:delete val="0"/>
        <c:axPos val="l"/>
        <c:majorGridlines>
          <c:spPr>
            <a:ln xmlns:a="http://schemas.openxmlformats.org/drawingml/2006/main" w="9525">
              <a:solidFill>
                <a:srgbClr val="DFE7EF"/>
              </a:solidFill>
            </a:ln>
          </c:spPr>
        </c:majorGridlines>
        <c:title>
          <c:tx>
            <c:rich>
              <a:bodyPr xmlns:a="http://schemas.openxmlformats.org/drawingml/2006/main"/>
              <a:lstStyle xmlns:a="http://schemas.openxmlformats.org/drawingml/2006/main"/>
              <a:p xmlns:a="http://schemas.openxmlformats.org/drawingml/2006/main">
                <a:r>
                  <a:rPr sz="1800">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title>
        <c:numFmt formatCode="0.0"/>
        <c:majorTickMark val="none"/>
        <c:minorTickMark val="none"/>
        <c:spPr>
          <a:ln xmlns:a="http://schemas.openxmlformats.org/drawingml/2006/main" w="9525">
            <a:solidFill>
              <a:srgbClr val="B9C9D8"/>
            </a:solidFill>
          </a:ln>
        </c:spPr>
        <c:txPr>
          <a:bodyPr xmlns:a="http://schemas.openxmlformats.org/drawingml/2006/main" anchorCtr="1"/>
          <a:lstStyle xmlns:a="http://schemas.openxmlformats.org/drawingml/2006/main"/>
          <a:p xmlns:a="http://schemas.openxmlformats.org/drawingml/2006/main">
            <a:pPr>
              <a:defRPr sz="1800">
                <a:solidFill>
                  <a:srgbClr val="243B53"/>
                </a:solidFill>
                <a:latin typeface="Arial"/>
                <a:ea typeface="Arial"/>
                <a:cs typeface="Arial"/>
              </a:defRPr>
            </a:pPr>
          </a:p>
        </c:txPr>
        <c:crossAx val="48650112"/>
        <c:crossBetween val="between"/>
        <c:majorUnit val="0.1"/>
      </c:valAx>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243B53"/>
              </a:solidFill>
              <a:latin typeface="Arial"/>
              <a:ea typeface="Arial"/>
              <a:cs typeface="Arial"/>
            </a:defRPr>
          </a:pPr>
        </a:p>
      </c:txPr>
    </c:legend>
    <c:plotVisOnly val="1"/>
  </c:chart>
  <c:spPr>
    <a:solidFill xmlns:a="http://schemas.openxmlformats.org/drawingml/2006/main">
      <a:srgbClr val="F7F9FC"/>
    </a:solidFill>
  </c:spPr>
</c:chartSpace>
</file>

<file path=ppt/slides/charts/chart3.xml><?xml version="1.0" encoding="utf-8"?>
<c:chartSpace xmlns:c="http://schemas.openxmlformats.org/drawingml/2006/chart">
  <c:lang val="en-US"/>
  <c:chart>
    <c:plotArea>
      <c:barChart>
        <c:barDir val="col"/>
        <c:varyColors val="0"/>
        <c:ser>
          <c:idx val="0"/>
          <c:order val="0"/>
          <c:tx>
            <c:v>Model</c:v>
          </c:tx>
          <c:spPr>
            <a:solidFill xmlns:a="http://schemas.openxmlformats.org/drawingml/2006/main">
              <a:srgbClr val="087E8B"/>
            </a:solidFill>
          </c:spPr>
          <c:invertIfNegative val="0"/>
          <c:cat>
            <c:strLit>
              <c:ptCount val="3"/>
              <c:pt idx="0">
                <c:v>Accuracy</c:v>
              </c:pt>
              <c:pt idx="1">
                <c:v>Precision</c:v>
              </c:pt>
              <c:pt idx="2">
                <c:v>Recall</c:v>
              </c:pt>
            </c:strLit>
          </c:cat>
          <c:val>
            <c:numLit>
              <c:formatCode>0%</c:formatCode>
              <c:ptCount val="3"/>
              <c:pt idx="0">
                <c:v>0.774</c:v>
              </c:pt>
              <c:pt idx="1">
                <c:v>0.4660633484162896</c:v>
              </c:pt>
              <c:pt idx="2">
                <c:v>0.7592137592137592</c:v>
              </c:pt>
            </c:numLit>
          </c:val>
        </c:ser>
        <c:dLbls>
          <c:numFmt formatCode="0.0%" sourceLinked="0"/>
          <c:txPr>
            <a:bodyPr xmlns:a="http://schemas.openxmlformats.org/drawingml/2006/main" anchorCtr="1"/>
            <a:lstStyle xmlns:a="http://schemas.openxmlformats.org/drawingml/2006/main"/>
            <a:p xmlns:a="http://schemas.openxmlformats.org/drawingml/2006/main">
              <a:pPr>
                <a:defRPr sz="1950" b="1">
                  <a:solidFill>
                    <a:srgbClr val="10243A"/>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8"/>
            </a:solidFill>
          </a:ln>
        </c:spPr>
        <c:txPr>
          <a:bodyPr xmlns:a="http://schemas.openxmlformats.org/drawingml/2006/main" anchorCtr="1"/>
          <a:lstStyle xmlns:a="http://schemas.openxmlformats.org/drawingml/2006/main"/>
          <a:p xmlns:a="http://schemas.openxmlformats.org/drawingml/2006/main">
            <a:pPr>
              <a:defRPr sz="1800">
                <a:solidFill>
                  <a:srgbClr val="243B5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FE7EF"/>
              </a:solidFill>
            </a:ln>
          </c:spPr>
        </c:majorGridlines>
        <c:numFmt formatCode="0%"/>
        <c:majorTickMark val="none"/>
        <c:minorTickMark val="none"/>
        <c:spPr>
          <a:ln xmlns:a="http://schemas.openxmlformats.org/drawingml/2006/main" w="9525">
            <a:solidFill>
              <a:srgbClr val="B9C9D8"/>
            </a:solidFill>
          </a:ln>
        </c:spPr>
        <c:txPr>
          <a:bodyPr xmlns:a="http://schemas.openxmlformats.org/drawingml/2006/main" anchorCtr="1"/>
          <a:lstStyle xmlns:a="http://schemas.openxmlformats.org/drawingml/2006/main"/>
          <a:p xmlns:a="http://schemas.openxmlformats.org/drawingml/2006/main">
            <a:pPr>
              <a:defRPr sz="1800">
                <a:solidFill>
                  <a:srgbClr val="243B53"/>
                </a:solidFill>
                <a:latin typeface="Arial"/>
                <a:ea typeface="Arial"/>
                <a:cs typeface="Arial"/>
              </a:defRPr>
            </a:pPr>
          </a:p>
        </c:txPr>
        <c:crossAx val="48650112"/>
        <c:crossBetween val="between"/>
        <c:majorUnit val="0.2"/>
      </c:valAx>
    </c:plotArea>
    <c:plotVisOnly val="1"/>
  </c:chart>
</c:chartSpace>
</file>

<file path=ppt/slides/slide1.xml><?xml version="1.0" encoding="utf-8"?>
<p:sld xmlns:p="http://schemas.openxmlformats.org/presentationml/2006/main">
  <p:cSld>
    <p:bg>
      <p:bgPr>
        <a:solidFill xmlns:a="http://schemas.openxmlformats.org/drawingml/2006/main">
          <a:srgbClr val="10243A"/>
        </a:solidFill>
      </p:bgPr>
    </p:bg>
    <p:spTree>
      <p:nvGrpSpPr>
        <p:cNvPr id="1" name=""/>
        <p:cNvGrpSpPr/>
        <p:nvPr/>
      </p:nvGrpSpPr>
      <p:grpSpPr>
        <a:xfrm xmlns:a="http://schemas.openxmlformats.org/drawingml/2006/main"/>
      </p:grpSpPr>
      <p:sp>
        <p:nvSpPr>
          <p:cNvPr id="5" name="FinGuard AI">
            <a:extLst xmlns:a="http://schemas.openxmlformats.org/drawingml/2006/main">
              <a:ext uri="{FF2B5EF4-FFF2-40B4-BE49-F238E27FC236}">
                <a16:creationId xmlns:a16="http://schemas.microsoft.com/office/drawing/2014/main" id="{0820398A-2820-45B9-A683-C53BB59D021C}"/>
              </a:ext>
            </a:extLst>
          </p:cNvPr>
          <p:cNvSpPr>
            <a:spLocks xmlns:a="http://schemas.openxmlformats.org/drawingml/2006/main" noGrp="1"/>
          </p:cNvSpPr>
          <p:nvPr/>
        </p:nvSpPr>
        <p:spPr>
          <a:xfrm xmlns:a="http://schemas.openxmlformats.org/drawingml/2006/main">
            <a:off x="762000" y="1638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FFFF"/>
                </a:solidFill>
                <a:latin typeface="Arial"/>
                <a:ea typeface="Arial"/>
                <a:cs typeface="Arial"/>
              </a:defRPr>
            </a:defPPr>
            <a:lvl1pPr>
              <a:defRPr sz="5700" b="1">
                <a:solidFill>
                  <a:srgbClr val="FFFFFF"/>
                </a:solidFill>
                <a:latin typeface="Arial"/>
                <a:ea typeface="Arial"/>
                <a:cs typeface="Arial"/>
              </a:defRPr>
            </a:lvl1pPr>
            <a:lvl2pPr>
              <a:defRPr sz="5700" b="1">
                <a:solidFill>
                  <a:srgbClr val="FFFFFF"/>
                </a:solidFill>
                <a:latin typeface="Arial"/>
                <a:ea typeface="Arial"/>
                <a:cs typeface="Arial"/>
              </a:defRPr>
            </a:lvl2pPr>
            <a:lvl3pPr>
              <a:defRPr sz="5700" b="1">
                <a:solidFill>
                  <a:srgbClr val="FFFFFF"/>
                </a:solidFill>
                <a:latin typeface="Arial"/>
                <a:ea typeface="Arial"/>
                <a:cs typeface="Arial"/>
              </a:defRPr>
            </a:lvl3pPr>
            <a:lvl4pPr>
              <a:defRPr sz="5700" b="1">
                <a:solidFill>
                  <a:srgbClr val="FFFFFF"/>
                </a:solidFill>
                <a:latin typeface="Arial"/>
                <a:ea typeface="Arial"/>
                <a:cs typeface="Arial"/>
              </a:defRPr>
            </a:lvl4pPr>
            <a:lvl5pPr>
              <a:defRPr sz="5700" b="1">
                <a:solidFill>
                  <a:srgbClr val="FFFFFF"/>
                </a:solidFill>
                <a:latin typeface="Arial"/>
                <a:ea typeface="Arial"/>
                <a:cs typeface="Arial"/>
              </a:defRPr>
            </a:lvl5pPr>
            <a:lvl6pPr>
              <a:defRPr sz="5700" b="1">
                <a:solidFill>
                  <a:srgbClr val="FFFFFF"/>
                </a:solidFill>
                <a:latin typeface="Arial"/>
                <a:ea typeface="Arial"/>
                <a:cs typeface="Arial"/>
              </a:defRPr>
            </a:lvl6pPr>
            <a:lvl7pPr>
              <a:defRPr sz="5700" b="1">
                <a:solidFill>
                  <a:srgbClr val="FFFFFF"/>
                </a:solidFill>
                <a:latin typeface="Arial"/>
                <a:ea typeface="Arial"/>
                <a:cs typeface="Arial"/>
              </a:defRPr>
            </a:lvl7pPr>
            <a:lvl8pPr>
              <a:defRPr sz="5700" b="1">
                <a:solidFill>
                  <a:srgbClr val="FFFFFF"/>
                </a:solidFill>
                <a:latin typeface="Arial"/>
                <a:ea typeface="Arial"/>
                <a:cs typeface="Arial"/>
              </a:defRPr>
            </a:lvl8pPr>
            <a:lvl9pPr>
              <a:defRPr sz="5700" b="1">
                <a:solidFill>
                  <a:srgbClr val="FFFFFF"/>
                </a:solidFill>
                <a:latin typeface="Arial"/>
                <a:ea typeface="Arial"/>
                <a:cs typeface="Arial"/>
              </a:defRPr>
            </a:lvl9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FinGuard AI</a:t>
            </a:r>
          </a:p>
        </p:txBody>
      </p:sp>
      <p:sp>
        <p:nvSpPr>
          <p:cNvPr id="2" name="Bank Customer Churn Prediction">
            <a:extLst xmlns:a="http://schemas.openxmlformats.org/drawingml/2006/main">
              <a:ext uri="{FF2B5EF4-FFF2-40B4-BE49-F238E27FC236}">
                <a16:creationId xmlns:a16="http://schemas.microsoft.com/office/drawing/2014/main" id="{FEA17B5F-FD81-4C3E-85A9-FD486DA502AF}"/>
              </a:ext>
            </a:extLst>
          </p:cNvPr>
          <p:cNvSpPr>
            <a:spLocks xmlns:a="http://schemas.openxmlformats.org/drawingml/2006/main" noGrp="1"/>
          </p:cNvSpPr>
          <p:nvPr/>
        </p:nvSpPr>
        <p:spPr>
          <a:xfrm xmlns:a="http://schemas.openxmlformats.org/drawingml/2006/main">
            <a:off x="800100" y="28289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6EE7E7"/>
                </a:solidFill>
                <a:latin typeface="Arial"/>
                <a:ea typeface="Arial"/>
                <a:cs typeface="Arial"/>
              </a:defRPr>
            </a:defPPr>
            <a:lvl1pPr>
              <a:defRPr sz="3150" b="0">
                <a:solidFill>
                  <a:srgbClr val="6EE7E7"/>
                </a:solidFill>
                <a:latin typeface="Arial"/>
                <a:ea typeface="Arial"/>
                <a:cs typeface="Arial"/>
              </a:defRPr>
            </a:lvl1pPr>
            <a:lvl2pPr>
              <a:defRPr sz="3150" b="0">
                <a:solidFill>
                  <a:srgbClr val="6EE7E7"/>
                </a:solidFill>
                <a:latin typeface="Arial"/>
                <a:ea typeface="Arial"/>
                <a:cs typeface="Arial"/>
              </a:defRPr>
            </a:lvl2pPr>
            <a:lvl3pPr>
              <a:defRPr sz="3150" b="0">
                <a:solidFill>
                  <a:srgbClr val="6EE7E7"/>
                </a:solidFill>
                <a:latin typeface="Arial"/>
                <a:ea typeface="Arial"/>
                <a:cs typeface="Arial"/>
              </a:defRPr>
            </a:lvl3pPr>
            <a:lvl4pPr>
              <a:defRPr sz="3150" b="0">
                <a:solidFill>
                  <a:srgbClr val="6EE7E7"/>
                </a:solidFill>
                <a:latin typeface="Arial"/>
                <a:ea typeface="Arial"/>
                <a:cs typeface="Arial"/>
              </a:defRPr>
            </a:lvl4pPr>
            <a:lvl5pPr>
              <a:defRPr sz="3150" b="0">
                <a:solidFill>
                  <a:srgbClr val="6EE7E7"/>
                </a:solidFill>
                <a:latin typeface="Arial"/>
                <a:ea typeface="Arial"/>
                <a:cs typeface="Arial"/>
              </a:defRPr>
            </a:lvl5pPr>
            <a:lvl6pPr>
              <a:defRPr sz="3150" b="0">
                <a:solidFill>
                  <a:srgbClr val="6EE7E7"/>
                </a:solidFill>
                <a:latin typeface="Arial"/>
                <a:ea typeface="Arial"/>
                <a:cs typeface="Arial"/>
              </a:defRPr>
            </a:lvl6pPr>
            <a:lvl7pPr>
              <a:defRPr sz="3150" b="0">
                <a:solidFill>
                  <a:srgbClr val="6EE7E7"/>
                </a:solidFill>
                <a:latin typeface="Arial"/>
                <a:ea typeface="Arial"/>
                <a:cs typeface="Arial"/>
              </a:defRPr>
            </a:lvl7pPr>
            <a:lvl8pPr>
              <a:defRPr sz="3150" b="0">
                <a:solidFill>
                  <a:srgbClr val="6EE7E7"/>
                </a:solidFill>
                <a:latin typeface="Arial"/>
                <a:ea typeface="Arial"/>
                <a:cs typeface="Arial"/>
              </a:defRPr>
            </a:lvl8pPr>
            <a:lvl9pPr>
              <a:defRPr sz="3150" b="0">
                <a:solidFill>
                  <a:srgbClr val="6EE7E7"/>
                </a:solidFill>
                <a:latin typeface="Arial"/>
                <a:ea typeface="Arial"/>
                <a:cs typeface="Arial"/>
              </a:defRPr>
            </a:lvl9pPr>
          </a:lstStyle>
          <a:p xmlns:a="http://schemas.openxmlformats.org/drawingml/2006/main">
            <a:pPr>
              <a:defRPr sz="3150" b="0">
                <a:solidFill>
                  <a:srgbClr val="6EE7E7"/>
                </a:solidFill>
                <a:latin typeface="Arial"/>
                <a:ea typeface="Arial"/>
                <a:cs typeface="Arial"/>
              </a:defRPr>
            </a:pPr>
            <a:r>
              <a:rPr sz="3150" b="0">
                <a:solidFill>
                  <a:srgbClr val="6EE7E7"/>
                </a:solidFill>
                <a:latin typeface="Arial"/>
                <a:ea typeface="Arial"/>
                <a:cs typeface="Arial"/>
              </a:rPr>
              <a:t>Bank Customer Churn Prediction</a:t>
            </a:r>
          </a:p>
        </p:txBody>
      </p:sp>
      <p:sp>
        <p:nvSpPr>
          <p:cNvPr id="3" name="A neural network with a local Streamlit ap">
            <a:extLst xmlns:a="http://schemas.openxmlformats.org/drawingml/2006/main">
              <a:ext uri="{FF2B5EF4-FFF2-40B4-BE49-F238E27FC236}">
                <a16:creationId xmlns:a16="http://schemas.microsoft.com/office/drawing/2014/main" id="{1122AF59-5790-47EE-9B01-4DCFE0A7A3FF}"/>
              </a:ext>
            </a:extLst>
          </p:cNvPr>
          <p:cNvSpPr>
            <a:spLocks xmlns:a="http://schemas.openxmlformats.org/drawingml/2006/main" noGrp="1"/>
          </p:cNvSpPr>
          <p:nvPr/>
        </p:nvSpPr>
        <p:spPr>
          <a:xfrm xmlns:a="http://schemas.openxmlformats.org/drawingml/2006/main">
            <a:off x="800100" y="39624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7E3EE"/>
                </a:solidFill>
                <a:latin typeface="Arial"/>
                <a:ea typeface="Arial"/>
                <a:cs typeface="Arial"/>
              </a:defRPr>
            </a:defPPr>
            <a:lvl1pPr>
              <a:defRPr sz="2025" b="0">
                <a:solidFill>
                  <a:srgbClr val="D7E3EE"/>
                </a:solidFill>
                <a:latin typeface="Arial"/>
                <a:ea typeface="Arial"/>
                <a:cs typeface="Arial"/>
              </a:defRPr>
            </a:lvl1pPr>
            <a:lvl2pPr>
              <a:defRPr sz="2025" b="0">
                <a:solidFill>
                  <a:srgbClr val="D7E3EE"/>
                </a:solidFill>
                <a:latin typeface="Arial"/>
                <a:ea typeface="Arial"/>
                <a:cs typeface="Arial"/>
              </a:defRPr>
            </a:lvl2pPr>
            <a:lvl3pPr>
              <a:defRPr sz="2025" b="0">
                <a:solidFill>
                  <a:srgbClr val="D7E3EE"/>
                </a:solidFill>
                <a:latin typeface="Arial"/>
                <a:ea typeface="Arial"/>
                <a:cs typeface="Arial"/>
              </a:defRPr>
            </a:lvl3pPr>
            <a:lvl4pPr>
              <a:defRPr sz="2025" b="0">
                <a:solidFill>
                  <a:srgbClr val="D7E3EE"/>
                </a:solidFill>
                <a:latin typeface="Arial"/>
                <a:ea typeface="Arial"/>
                <a:cs typeface="Arial"/>
              </a:defRPr>
            </a:lvl4pPr>
            <a:lvl5pPr>
              <a:defRPr sz="2025" b="0">
                <a:solidFill>
                  <a:srgbClr val="D7E3EE"/>
                </a:solidFill>
                <a:latin typeface="Arial"/>
                <a:ea typeface="Arial"/>
                <a:cs typeface="Arial"/>
              </a:defRPr>
            </a:lvl5pPr>
            <a:lvl6pPr>
              <a:defRPr sz="2025" b="0">
                <a:solidFill>
                  <a:srgbClr val="D7E3EE"/>
                </a:solidFill>
                <a:latin typeface="Arial"/>
                <a:ea typeface="Arial"/>
                <a:cs typeface="Arial"/>
              </a:defRPr>
            </a:lvl6pPr>
            <a:lvl7pPr>
              <a:defRPr sz="2025" b="0">
                <a:solidFill>
                  <a:srgbClr val="D7E3EE"/>
                </a:solidFill>
                <a:latin typeface="Arial"/>
                <a:ea typeface="Arial"/>
                <a:cs typeface="Arial"/>
              </a:defRPr>
            </a:lvl7pPr>
            <a:lvl8pPr>
              <a:defRPr sz="2025" b="0">
                <a:solidFill>
                  <a:srgbClr val="D7E3EE"/>
                </a:solidFill>
                <a:latin typeface="Arial"/>
                <a:ea typeface="Arial"/>
                <a:cs typeface="Arial"/>
              </a:defRPr>
            </a:lvl8pPr>
            <a:lvl9pPr>
              <a:defRPr sz="2025" b="0">
                <a:solidFill>
                  <a:srgbClr val="D7E3EE"/>
                </a:solidFill>
                <a:latin typeface="Arial"/>
                <a:ea typeface="Arial"/>
                <a:cs typeface="Arial"/>
              </a:defRPr>
            </a:lvl9pPr>
          </a:lstStyle>
          <a:p xmlns:a="http://schemas.openxmlformats.org/drawingml/2006/main">
            <a:pPr>
              <a:defRPr sz="2025" b="0">
                <a:solidFill>
                  <a:srgbClr val="D7E3EE"/>
                </a:solidFill>
                <a:latin typeface="Arial"/>
                <a:ea typeface="Arial"/>
                <a:cs typeface="Arial"/>
              </a:defRPr>
            </a:pPr>
            <a:r>
              <a:rPr sz="2025" b="0">
                <a:solidFill>
                  <a:srgbClr val="D7E3EE"/>
                </a:solidFill>
                <a:latin typeface="Arial"/>
                <a:ea typeface="Arial"/>
                <a:cs typeface="Arial"/>
              </a:rPr>
              <a:t>A neural network with a local Streamlit application</a:t>
            </a:r>
          </a:p>
        </p:txBody>
      </p:sp>
      <p:sp>
        <p:nvSpPr>
          <p:cNvPr id="4" name="Shabbir Mhowwala">
            <a:extLst xmlns:a="http://schemas.openxmlformats.org/drawingml/2006/main">
              <a:ext uri="{FF2B5EF4-FFF2-40B4-BE49-F238E27FC236}">
                <a16:creationId xmlns:a16="http://schemas.microsoft.com/office/drawing/2014/main" id="{8A8B7956-7A24-4561-B921-32FEF5F0E477}"/>
              </a:ext>
            </a:extLst>
          </p:cNvPr>
          <p:cNvSpPr>
            <a:spLocks xmlns:a="http://schemas.openxmlformats.org/drawingml/2006/main" noGrp="1"/>
          </p:cNvSpPr>
          <p:nvPr/>
        </p:nvSpPr>
        <p:spPr>
          <a:xfrm xmlns:a="http://schemas.openxmlformats.org/drawingml/2006/main">
            <a:off x="800100" y="55435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Shabbir Mhowwala</a:t>
            </a:r>
          </a:p>
        </p:txBody>
      </p:sp>
    </p:spTree>
    <p:extLst>
      <p:ext uri="{BB962C8B-B14F-4D97-AF65-F5344CB8AC3E}">
        <p14:creationId xmlns:p14="http://schemas.microsoft.com/office/powerpoint/2010/main" val="526391842"/>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Problem and objective">
            <a:extLst xmlns:a="http://schemas.openxmlformats.org/drawingml/2006/main">
              <a:ext uri="{FF2B5EF4-FFF2-40B4-BE49-F238E27FC236}">
                <a16:creationId xmlns:a16="http://schemas.microsoft.com/office/drawing/2014/main" id="{E753DCCE-4217-4A46-8575-D6F67C25634E}"/>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Problem and objective</a:t>
            </a:r>
          </a:p>
        </p:txBody>
      </p:sp>
      <p:sp>
        <p:nvSpPr>
          <p:cNvPr id="2" name="02">
            <a:extLst xmlns:a="http://schemas.openxmlformats.org/drawingml/2006/main">
              <a:ext uri="{FF2B5EF4-FFF2-40B4-BE49-F238E27FC236}">
                <a16:creationId xmlns:a16="http://schemas.microsoft.com/office/drawing/2014/main" id="{A816DABE-95F6-4242-9FF3-D98B060D83BD}"/>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02</a:t>
            </a:r>
          </a:p>
        </p:txBody>
      </p:sp>
      <p:sp>
        <p:nvSpPr>
          <p:cNvPr id="3" name="Customer churn">
            <a:extLst xmlns:a="http://schemas.openxmlformats.org/drawingml/2006/main">
              <a:ext uri="{FF2B5EF4-FFF2-40B4-BE49-F238E27FC236}">
                <a16:creationId xmlns:a16="http://schemas.microsoft.com/office/drawing/2014/main" id="{F3D3FF80-8CDB-4C6A-AF82-23EABF65F845}"/>
              </a:ext>
            </a:extLst>
          </p:cNvPr>
          <p:cNvSpPr>
            <a:spLocks xmlns:a="http://schemas.openxmlformats.org/drawingml/2006/main" noGrp="1"/>
          </p:cNvSpPr>
          <p:nvPr/>
        </p:nvSpPr>
        <p:spPr>
          <a:xfrm xmlns:a="http://schemas.openxmlformats.org/drawingml/2006/main">
            <a:off x="762000" y="165735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E8B"/>
                </a:solidFill>
                <a:latin typeface="Arial"/>
                <a:ea typeface="Arial"/>
                <a:cs typeface="Arial"/>
              </a:defRPr>
            </a:defPPr>
            <a:lvl1pPr>
              <a:defRPr sz="2400" b="1">
                <a:solidFill>
                  <a:srgbClr val="087E8B"/>
                </a:solidFill>
                <a:latin typeface="Arial"/>
                <a:ea typeface="Arial"/>
                <a:cs typeface="Arial"/>
              </a:defRPr>
            </a:lvl1pPr>
            <a:lvl2pPr>
              <a:defRPr sz="2400" b="1">
                <a:solidFill>
                  <a:srgbClr val="087E8B"/>
                </a:solidFill>
                <a:latin typeface="Arial"/>
                <a:ea typeface="Arial"/>
                <a:cs typeface="Arial"/>
              </a:defRPr>
            </a:lvl2pPr>
            <a:lvl3pPr>
              <a:defRPr sz="2400" b="1">
                <a:solidFill>
                  <a:srgbClr val="087E8B"/>
                </a:solidFill>
                <a:latin typeface="Arial"/>
                <a:ea typeface="Arial"/>
                <a:cs typeface="Arial"/>
              </a:defRPr>
            </a:lvl3pPr>
            <a:lvl4pPr>
              <a:defRPr sz="2400" b="1">
                <a:solidFill>
                  <a:srgbClr val="087E8B"/>
                </a:solidFill>
                <a:latin typeface="Arial"/>
                <a:ea typeface="Arial"/>
                <a:cs typeface="Arial"/>
              </a:defRPr>
            </a:lvl4pPr>
            <a:lvl5pPr>
              <a:defRPr sz="2400" b="1">
                <a:solidFill>
                  <a:srgbClr val="087E8B"/>
                </a:solidFill>
                <a:latin typeface="Arial"/>
                <a:ea typeface="Arial"/>
                <a:cs typeface="Arial"/>
              </a:defRPr>
            </a:lvl5pPr>
            <a:lvl6pPr>
              <a:defRPr sz="2400" b="1">
                <a:solidFill>
                  <a:srgbClr val="087E8B"/>
                </a:solidFill>
                <a:latin typeface="Arial"/>
                <a:ea typeface="Arial"/>
                <a:cs typeface="Arial"/>
              </a:defRPr>
            </a:lvl6pPr>
            <a:lvl7pPr>
              <a:defRPr sz="2400" b="1">
                <a:solidFill>
                  <a:srgbClr val="087E8B"/>
                </a:solidFill>
                <a:latin typeface="Arial"/>
                <a:ea typeface="Arial"/>
                <a:cs typeface="Arial"/>
              </a:defRPr>
            </a:lvl7pPr>
            <a:lvl8pPr>
              <a:defRPr sz="2400" b="1">
                <a:solidFill>
                  <a:srgbClr val="087E8B"/>
                </a:solidFill>
                <a:latin typeface="Arial"/>
                <a:ea typeface="Arial"/>
                <a:cs typeface="Arial"/>
              </a:defRPr>
            </a:lvl8pPr>
            <a:lvl9pPr>
              <a:defRPr sz="2400" b="1">
                <a:solidFill>
                  <a:srgbClr val="087E8B"/>
                </a:solidFill>
                <a:latin typeface="Arial"/>
                <a:ea typeface="Arial"/>
                <a:cs typeface="Arial"/>
              </a:defRPr>
            </a:lvl9pPr>
          </a:lstStyle>
          <a:p xmlns:a="http://schemas.openxmlformats.org/drawingml/2006/main">
            <a:pPr>
              <a:defRPr sz="2400" b="1">
                <a:solidFill>
                  <a:srgbClr val="087E8B"/>
                </a:solidFill>
                <a:latin typeface="Arial"/>
                <a:ea typeface="Arial"/>
                <a:cs typeface="Arial"/>
              </a:defRPr>
            </a:pPr>
            <a:r>
              <a:rPr sz="2400" b="1">
                <a:solidFill>
                  <a:srgbClr val="087E8B"/>
                </a:solidFill>
                <a:latin typeface="Arial"/>
                <a:ea typeface="Arial"/>
                <a:cs typeface="Arial"/>
              </a:rPr>
              <a:t>Customer churn</a:t>
            </a:r>
          </a:p>
        </p:txBody>
      </p:sp>
      <p:sp>
        <p:nvSpPr>
          <p:cNvPr id="4" name="A customer stops using the bank’s services">
            <a:extLst xmlns:a="http://schemas.openxmlformats.org/drawingml/2006/main">
              <a:ext uri="{FF2B5EF4-FFF2-40B4-BE49-F238E27FC236}">
                <a16:creationId xmlns:a16="http://schemas.microsoft.com/office/drawing/2014/main" id="{66CEC6FE-7801-4A46-98E5-C93F5E9F36B3}"/>
              </a:ext>
            </a:extLst>
          </p:cNvPr>
          <p:cNvSpPr>
            <a:spLocks xmlns:a="http://schemas.openxmlformats.org/drawingml/2006/main" noGrp="1"/>
          </p:cNvSpPr>
          <p:nvPr/>
        </p:nvSpPr>
        <p:spPr>
          <a:xfrm xmlns:a="http://schemas.openxmlformats.org/drawingml/2006/main">
            <a:off x="762000" y="22669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53"/>
                </a:solidFill>
                <a:latin typeface="Arial"/>
                <a:ea typeface="Arial"/>
                <a:cs typeface="Arial"/>
              </a:defRPr>
            </a:defPPr>
            <a:lvl1pPr>
              <a:defRPr sz="2400" b="0">
                <a:solidFill>
                  <a:srgbClr val="243B53"/>
                </a:solidFill>
                <a:latin typeface="Arial"/>
                <a:ea typeface="Arial"/>
                <a:cs typeface="Arial"/>
              </a:defRPr>
            </a:lvl1pPr>
            <a:lvl2pPr>
              <a:defRPr sz="2400" b="0">
                <a:solidFill>
                  <a:srgbClr val="243B53"/>
                </a:solidFill>
                <a:latin typeface="Arial"/>
                <a:ea typeface="Arial"/>
                <a:cs typeface="Arial"/>
              </a:defRPr>
            </a:lvl2pPr>
            <a:lvl3pPr>
              <a:defRPr sz="2400" b="0">
                <a:solidFill>
                  <a:srgbClr val="243B53"/>
                </a:solidFill>
                <a:latin typeface="Arial"/>
                <a:ea typeface="Arial"/>
                <a:cs typeface="Arial"/>
              </a:defRPr>
            </a:lvl3pPr>
            <a:lvl4pPr>
              <a:defRPr sz="2400" b="0">
                <a:solidFill>
                  <a:srgbClr val="243B53"/>
                </a:solidFill>
                <a:latin typeface="Arial"/>
                <a:ea typeface="Arial"/>
                <a:cs typeface="Arial"/>
              </a:defRPr>
            </a:lvl4pPr>
            <a:lvl5pPr>
              <a:defRPr sz="2400" b="0">
                <a:solidFill>
                  <a:srgbClr val="243B53"/>
                </a:solidFill>
                <a:latin typeface="Arial"/>
                <a:ea typeface="Arial"/>
                <a:cs typeface="Arial"/>
              </a:defRPr>
            </a:lvl5pPr>
            <a:lvl6pPr>
              <a:defRPr sz="2400" b="0">
                <a:solidFill>
                  <a:srgbClr val="243B53"/>
                </a:solidFill>
                <a:latin typeface="Arial"/>
                <a:ea typeface="Arial"/>
                <a:cs typeface="Arial"/>
              </a:defRPr>
            </a:lvl6pPr>
            <a:lvl7pPr>
              <a:defRPr sz="2400" b="0">
                <a:solidFill>
                  <a:srgbClr val="243B53"/>
                </a:solidFill>
                <a:latin typeface="Arial"/>
                <a:ea typeface="Arial"/>
                <a:cs typeface="Arial"/>
              </a:defRPr>
            </a:lvl7pPr>
            <a:lvl8pPr>
              <a:defRPr sz="2400" b="0">
                <a:solidFill>
                  <a:srgbClr val="243B53"/>
                </a:solidFill>
                <a:latin typeface="Arial"/>
                <a:ea typeface="Arial"/>
                <a:cs typeface="Arial"/>
              </a:defRPr>
            </a:lvl8pPr>
            <a:lvl9pPr>
              <a:defRPr sz="2400" b="0">
                <a:solidFill>
                  <a:srgbClr val="243B53"/>
                </a:solidFill>
                <a:latin typeface="Arial"/>
                <a:ea typeface="Arial"/>
                <a:cs typeface="Arial"/>
              </a:defRPr>
            </a:lvl9pPr>
          </a:lstStyle>
          <a:p xmlns:a="http://schemas.openxmlformats.org/drawingml/2006/main">
            <a:pPr>
              <a:defRPr sz="2400" b="0">
                <a:solidFill>
                  <a:srgbClr val="243B53"/>
                </a:solidFill>
                <a:latin typeface="Arial"/>
                <a:ea typeface="Arial"/>
                <a:cs typeface="Arial"/>
              </a:defRPr>
            </a:pPr>
            <a:r>
              <a:rPr sz="2400" b="0">
                <a:solidFill>
                  <a:srgbClr val="243B53"/>
                </a:solidFill>
                <a:latin typeface="Arial"/>
                <a:ea typeface="Arial"/>
                <a:cs typeface="Arial"/>
              </a:rPr>
              <a:t>A customer stops using the bank’s services.</a:t>
            </a:r>
          </a:p>
        </p:txBody>
      </p:sp>
      <p:sp>
        <p:nvSpPr>
          <p:cNvPr id="5" name="Project objective">
            <a:extLst xmlns:a="http://schemas.openxmlformats.org/drawingml/2006/main">
              <a:ext uri="{FF2B5EF4-FFF2-40B4-BE49-F238E27FC236}">
                <a16:creationId xmlns:a16="http://schemas.microsoft.com/office/drawing/2014/main" id="{407EFAAA-541B-4007-B737-C639D6033199}"/>
              </a:ext>
            </a:extLst>
          </p:cNvPr>
          <p:cNvSpPr>
            <a:spLocks xmlns:a="http://schemas.openxmlformats.org/drawingml/2006/main" noGrp="1"/>
          </p:cNvSpPr>
          <p:nvPr/>
        </p:nvSpPr>
        <p:spPr>
          <a:xfrm xmlns:a="http://schemas.openxmlformats.org/drawingml/2006/main">
            <a:off x="762000" y="334327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E8B"/>
                </a:solidFill>
                <a:latin typeface="Arial"/>
                <a:ea typeface="Arial"/>
                <a:cs typeface="Arial"/>
              </a:defRPr>
            </a:defPPr>
            <a:lvl1pPr>
              <a:defRPr sz="2400" b="1">
                <a:solidFill>
                  <a:srgbClr val="087E8B"/>
                </a:solidFill>
                <a:latin typeface="Arial"/>
                <a:ea typeface="Arial"/>
                <a:cs typeface="Arial"/>
              </a:defRPr>
            </a:lvl1pPr>
            <a:lvl2pPr>
              <a:defRPr sz="2400" b="1">
                <a:solidFill>
                  <a:srgbClr val="087E8B"/>
                </a:solidFill>
                <a:latin typeface="Arial"/>
                <a:ea typeface="Arial"/>
                <a:cs typeface="Arial"/>
              </a:defRPr>
            </a:lvl2pPr>
            <a:lvl3pPr>
              <a:defRPr sz="2400" b="1">
                <a:solidFill>
                  <a:srgbClr val="087E8B"/>
                </a:solidFill>
                <a:latin typeface="Arial"/>
                <a:ea typeface="Arial"/>
                <a:cs typeface="Arial"/>
              </a:defRPr>
            </a:lvl3pPr>
            <a:lvl4pPr>
              <a:defRPr sz="2400" b="1">
                <a:solidFill>
                  <a:srgbClr val="087E8B"/>
                </a:solidFill>
                <a:latin typeface="Arial"/>
                <a:ea typeface="Arial"/>
                <a:cs typeface="Arial"/>
              </a:defRPr>
            </a:lvl4pPr>
            <a:lvl5pPr>
              <a:defRPr sz="2400" b="1">
                <a:solidFill>
                  <a:srgbClr val="087E8B"/>
                </a:solidFill>
                <a:latin typeface="Arial"/>
                <a:ea typeface="Arial"/>
                <a:cs typeface="Arial"/>
              </a:defRPr>
            </a:lvl5pPr>
            <a:lvl6pPr>
              <a:defRPr sz="2400" b="1">
                <a:solidFill>
                  <a:srgbClr val="087E8B"/>
                </a:solidFill>
                <a:latin typeface="Arial"/>
                <a:ea typeface="Arial"/>
                <a:cs typeface="Arial"/>
              </a:defRPr>
            </a:lvl6pPr>
            <a:lvl7pPr>
              <a:defRPr sz="2400" b="1">
                <a:solidFill>
                  <a:srgbClr val="087E8B"/>
                </a:solidFill>
                <a:latin typeface="Arial"/>
                <a:ea typeface="Arial"/>
                <a:cs typeface="Arial"/>
              </a:defRPr>
            </a:lvl7pPr>
            <a:lvl8pPr>
              <a:defRPr sz="2400" b="1">
                <a:solidFill>
                  <a:srgbClr val="087E8B"/>
                </a:solidFill>
                <a:latin typeface="Arial"/>
                <a:ea typeface="Arial"/>
                <a:cs typeface="Arial"/>
              </a:defRPr>
            </a:lvl8pPr>
            <a:lvl9pPr>
              <a:defRPr sz="2400" b="1">
                <a:solidFill>
                  <a:srgbClr val="087E8B"/>
                </a:solidFill>
                <a:latin typeface="Arial"/>
                <a:ea typeface="Arial"/>
                <a:cs typeface="Arial"/>
              </a:defRPr>
            </a:lvl9pPr>
          </a:lstStyle>
          <a:p xmlns:a="http://schemas.openxmlformats.org/drawingml/2006/main">
            <a:pPr>
              <a:defRPr sz="2400" b="1">
                <a:solidFill>
                  <a:srgbClr val="087E8B"/>
                </a:solidFill>
                <a:latin typeface="Arial"/>
                <a:ea typeface="Arial"/>
                <a:cs typeface="Arial"/>
              </a:defRPr>
            </a:pPr>
            <a:r>
              <a:rPr sz="2400" b="1">
                <a:solidFill>
                  <a:srgbClr val="087E8B"/>
                </a:solidFill>
                <a:latin typeface="Arial"/>
                <a:ea typeface="Arial"/>
                <a:cs typeface="Arial"/>
              </a:rPr>
              <a:t>Project objective</a:t>
            </a:r>
          </a:p>
        </p:txBody>
      </p:sp>
      <p:sp>
        <p:nvSpPr>
          <p:cNvPr id="6" name="Estimate exit risk from customer attribute">
            <a:extLst xmlns:a="http://schemas.openxmlformats.org/drawingml/2006/main">
              <a:ext uri="{FF2B5EF4-FFF2-40B4-BE49-F238E27FC236}">
                <a16:creationId xmlns:a16="http://schemas.microsoft.com/office/drawing/2014/main" id="{A894D198-D4DC-4ABA-AF78-67EE69AF481E}"/>
              </a:ext>
            </a:extLst>
          </p:cNvPr>
          <p:cNvSpPr>
            <a:spLocks xmlns:a="http://schemas.openxmlformats.org/drawingml/2006/main" noGrp="1"/>
          </p:cNvSpPr>
          <p:nvPr/>
        </p:nvSpPr>
        <p:spPr>
          <a:xfrm xmlns:a="http://schemas.openxmlformats.org/drawingml/2006/main">
            <a:off x="762000" y="39528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B53"/>
                </a:solidFill>
                <a:latin typeface="Arial"/>
                <a:ea typeface="Arial"/>
                <a:cs typeface="Arial"/>
              </a:defRPr>
            </a:defPPr>
            <a:lvl1pPr>
              <a:defRPr sz="2400" b="0">
                <a:solidFill>
                  <a:srgbClr val="243B53"/>
                </a:solidFill>
                <a:latin typeface="Arial"/>
                <a:ea typeface="Arial"/>
                <a:cs typeface="Arial"/>
              </a:defRPr>
            </a:lvl1pPr>
            <a:lvl2pPr>
              <a:defRPr sz="2400" b="0">
                <a:solidFill>
                  <a:srgbClr val="243B53"/>
                </a:solidFill>
                <a:latin typeface="Arial"/>
                <a:ea typeface="Arial"/>
                <a:cs typeface="Arial"/>
              </a:defRPr>
            </a:lvl2pPr>
            <a:lvl3pPr>
              <a:defRPr sz="2400" b="0">
                <a:solidFill>
                  <a:srgbClr val="243B53"/>
                </a:solidFill>
                <a:latin typeface="Arial"/>
                <a:ea typeface="Arial"/>
                <a:cs typeface="Arial"/>
              </a:defRPr>
            </a:lvl3pPr>
            <a:lvl4pPr>
              <a:defRPr sz="2400" b="0">
                <a:solidFill>
                  <a:srgbClr val="243B53"/>
                </a:solidFill>
                <a:latin typeface="Arial"/>
                <a:ea typeface="Arial"/>
                <a:cs typeface="Arial"/>
              </a:defRPr>
            </a:lvl4pPr>
            <a:lvl5pPr>
              <a:defRPr sz="2400" b="0">
                <a:solidFill>
                  <a:srgbClr val="243B53"/>
                </a:solidFill>
                <a:latin typeface="Arial"/>
                <a:ea typeface="Arial"/>
                <a:cs typeface="Arial"/>
              </a:defRPr>
            </a:lvl5pPr>
            <a:lvl6pPr>
              <a:defRPr sz="2400" b="0">
                <a:solidFill>
                  <a:srgbClr val="243B53"/>
                </a:solidFill>
                <a:latin typeface="Arial"/>
                <a:ea typeface="Arial"/>
                <a:cs typeface="Arial"/>
              </a:defRPr>
            </a:lvl6pPr>
            <a:lvl7pPr>
              <a:defRPr sz="2400" b="0">
                <a:solidFill>
                  <a:srgbClr val="243B53"/>
                </a:solidFill>
                <a:latin typeface="Arial"/>
                <a:ea typeface="Arial"/>
                <a:cs typeface="Arial"/>
              </a:defRPr>
            </a:lvl7pPr>
            <a:lvl8pPr>
              <a:defRPr sz="2400" b="0">
                <a:solidFill>
                  <a:srgbClr val="243B53"/>
                </a:solidFill>
                <a:latin typeface="Arial"/>
                <a:ea typeface="Arial"/>
                <a:cs typeface="Arial"/>
              </a:defRPr>
            </a:lvl8pPr>
            <a:lvl9pPr>
              <a:defRPr sz="2400" b="0">
                <a:solidFill>
                  <a:srgbClr val="243B53"/>
                </a:solidFill>
                <a:latin typeface="Arial"/>
                <a:ea typeface="Arial"/>
                <a:cs typeface="Arial"/>
              </a:defRPr>
            </a:lvl9pPr>
          </a:lstStyle>
          <a:p xmlns:a="http://schemas.openxmlformats.org/drawingml/2006/main">
            <a:pPr>
              <a:defRPr sz="2400" b="0">
                <a:solidFill>
                  <a:srgbClr val="243B53"/>
                </a:solidFill>
                <a:latin typeface="Arial"/>
                <a:ea typeface="Arial"/>
                <a:cs typeface="Arial"/>
              </a:defRPr>
            </a:pPr>
            <a:r>
              <a:rPr sz="2400" b="0">
                <a:solidFill>
                  <a:srgbClr val="243B53"/>
                </a:solidFill>
                <a:latin typeface="Arial"/>
                <a:ea typeface="Arial"/>
                <a:cs typeface="Arial"/>
              </a:rPr>
              <a:t>Estimate exit risk from customer attributes and show it in a simple local application.</a:t>
            </a:r>
          </a:p>
        </p:txBody>
      </p:sp>
      <p:sp>
        <p:nvSpPr>
          <p:cNvPr id="7" name="Target: Exited = 1 for exited, 0 for staye">
            <a:extLst xmlns:a="http://schemas.openxmlformats.org/drawingml/2006/main">
              <a:ext uri="{FF2B5EF4-FFF2-40B4-BE49-F238E27FC236}">
                <a16:creationId xmlns:a16="http://schemas.microsoft.com/office/drawing/2014/main" id="{FC55E122-EA6F-46AC-9A38-A6A77878AF40}"/>
              </a:ext>
            </a:extLst>
          </p:cNvPr>
          <p:cNvSpPr>
            <a:spLocks xmlns:a="http://schemas.openxmlformats.org/drawingml/2006/main" noGrp="1"/>
          </p:cNvSpPr>
          <p:nvPr/>
        </p:nvSpPr>
        <p:spPr>
          <a:xfrm xmlns:a="http://schemas.openxmlformats.org/drawingml/2006/main">
            <a:off x="685800" y="57245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Target: Exited = 1 for exited, 0 for stayed.</a:t>
            </a:r>
          </a:p>
        </p:txBody>
      </p:sp>
    </p:spTree>
    <p:extLst>
      <p:ext uri="{BB962C8B-B14F-4D97-AF65-F5344CB8AC3E}">
        <p14:creationId xmlns:p14="http://schemas.microsoft.com/office/powerpoint/2010/main" val="470659361"/>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chnology stack">
            <a:extLst xmlns:a="http://schemas.openxmlformats.org/drawingml/2006/main">
              <a:ext uri="{FF2B5EF4-FFF2-40B4-BE49-F238E27FC236}">
                <a16:creationId xmlns:a16="http://schemas.microsoft.com/office/drawing/2014/main" id="{284DCD4C-B757-4352-BB11-9898A1362BF1}"/>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Technology stack</a:t>
            </a:r>
          </a:p>
        </p:txBody>
      </p:sp>
      <p:sp>
        <p:nvSpPr>
          <p:cNvPr id="2" name="03">
            <a:extLst xmlns:a="http://schemas.openxmlformats.org/drawingml/2006/main">
              <a:ext uri="{FF2B5EF4-FFF2-40B4-BE49-F238E27FC236}">
                <a16:creationId xmlns:a16="http://schemas.microsoft.com/office/drawing/2014/main" id="{0D25FBD3-BECD-479D-B555-4BEFC0B404A7}"/>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D1A9D0AB-D7DE-4857-851E-93ABDF89527E}"/>
              </a:ext>
            </a:extLst>
          </p:cNvPr>
          <p:cNvGraphicFramePr/>
          <p:nvPr/>
        </p:nvGraphicFramePr>
        <p:xfrm>
          <a:off xmlns:a="http://schemas.openxmlformats.org/drawingml/2006/main" x="685800" y="1562100"/>
          <a:ext xmlns:a="http://schemas.openxmlformats.org/drawingml/2006/main" cx="10820400" cy="4038600"/>
        </p:xfrm>
        <a:graphic xmlns:a="http://schemas.openxmlformats.org/drawingml/2006/main">
          <a:graphicData uri="http://schemas.openxmlformats.org/drawingml/2006/table">
            <a:tbl>
              <a:tblPr/>
              <a:tblGrid>
                <a:gridCol w="3333750"/>
                <a:gridCol w="7486650"/>
              </a:tblGrid>
              <a:tr h="576943">
                <a:tc>
                  <a:txBody>
                    <a:bodyPr/>
                    <a:lstStyle/>
                    <a:p>
                      <a:r>
                        <a:rPr sz="1875" b="1">
                          <a:solidFill>
                            <a:srgbClr val="FFFFFF"/>
                          </a:solidFill>
                          <a:latin typeface="Arial"/>
                          <a:ea typeface="Arial"/>
                          <a:cs typeface="Arial"/>
                        </a:rPr>
                        <a:t>Area</a:t>
                      </a:r>
                    </a:p>
                  </a:txBody>
                  <a:tcPr marL="91440" marR="91440" marT="45720" marB="45720">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1875" b="1">
                          <a:solidFill>
                            <a:srgbClr val="FFFFFF"/>
                          </a:solidFill>
                          <a:latin typeface="Arial"/>
                          <a:ea typeface="Arial"/>
                          <a:cs typeface="Arial"/>
                        </a:rPr>
                        <a:t>Technology and role</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r>
              <a:tr h="576943">
                <a:tc>
                  <a:txBody>
                    <a:bodyPr/>
                    <a:lstStyle/>
                    <a:p>
                      <a:r>
                        <a:rPr sz="1875" b="0">
                          <a:solidFill>
                            <a:srgbClr val="243B53"/>
                          </a:solidFill>
                          <a:latin typeface="Arial"/>
                          <a:ea typeface="Arial"/>
                          <a:cs typeface="Arial"/>
                        </a:rPr>
                        <a:t>Model</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TensorFlow / Keras: training and inference</a:t>
                      </a:r>
                    </a:p>
                  </a:txBody>
                  <a:tcPr marL="91440" marR="91440" marT="45720" marB="45720">
                    <a:lnR w="9525">
                      <a:solidFill>
                        <a:srgbClr val="D6E1EB"/>
                      </a:solidFill>
                      <a:prstDash val="solid"/>
                    </a:lnR>
                    <a:lnB w="9525">
                      <a:solidFill>
                        <a:srgbClr val="D6E1EB"/>
                      </a:solidFill>
                      <a:prstDash val="solid"/>
                    </a:lnB>
                    <a:solidFill>
                      <a:srgbClr val="FFFFFF"/>
                    </a:solidFill>
                  </a:tcPr>
                </a:tc>
              </a:tr>
              <a:tr h="576943">
                <a:tc>
                  <a:txBody>
                    <a:bodyPr/>
                    <a:lstStyle/>
                    <a:p>
                      <a:r>
                        <a:rPr sz="1875" b="0">
                          <a:solidFill>
                            <a:srgbClr val="243B53"/>
                          </a:solidFill>
                          <a:latin typeface="Arial"/>
                          <a:ea typeface="Arial"/>
                          <a:cs typeface="Arial"/>
                        </a:rPr>
                        <a:t>Data</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Pandas / NumPy: tables and numeric arrays</a:t>
                      </a:r>
                    </a:p>
                  </a:txBody>
                  <a:tcPr marL="91440" marR="91440" marT="45720" marB="45720">
                    <a:lnR w="9525">
                      <a:solidFill>
                        <a:srgbClr val="D6E1EB"/>
                      </a:solidFill>
                      <a:prstDash val="solid"/>
                    </a:lnR>
                    <a:lnB w="9525">
                      <a:solidFill>
                        <a:srgbClr val="D6E1EB"/>
                      </a:solidFill>
                      <a:prstDash val="solid"/>
                    </a:lnB>
                    <a:solidFill>
                      <a:srgbClr val="EFF4F8"/>
                    </a:solidFill>
                  </a:tcPr>
                </a:tc>
              </a:tr>
              <a:tr h="576943">
                <a:tc>
                  <a:txBody>
                    <a:bodyPr/>
                    <a:lstStyle/>
                    <a:p>
                      <a:r>
                        <a:rPr sz="1875" b="0">
                          <a:solidFill>
                            <a:srgbClr val="243B53"/>
                          </a:solidFill>
                          <a:latin typeface="Arial"/>
                          <a:ea typeface="Arial"/>
                          <a:cs typeface="Arial"/>
                        </a:rPr>
                        <a:t>Preprocessing</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scikit-learn: scaling, encoding, splits, metrics</a:t>
                      </a:r>
                    </a:p>
                  </a:txBody>
                  <a:tcPr marL="91440" marR="91440" marT="45720" marB="45720">
                    <a:lnR w="9525">
                      <a:solidFill>
                        <a:srgbClr val="D6E1EB"/>
                      </a:solidFill>
                      <a:prstDash val="solid"/>
                    </a:lnR>
                    <a:lnB w="9525">
                      <a:solidFill>
                        <a:srgbClr val="D6E1EB"/>
                      </a:solidFill>
                      <a:prstDash val="solid"/>
                    </a:lnB>
                    <a:solidFill>
                      <a:srgbClr val="FFFFFF"/>
                    </a:solidFill>
                  </a:tcPr>
                </a:tc>
              </a:tr>
              <a:tr h="576943">
                <a:tc>
                  <a:txBody>
                    <a:bodyPr/>
                    <a:lstStyle/>
                    <a:p>
                      <a:r>
                        <a:rPr sz="1875" b="0">
                          <a:solidFill>
                            <a:srgbClr val="243B53"/>
                          </a:solidFill>
                          <a:latin typeface="Arial"/>
                          <a:ea typeface="Arial"/>
                          <a:cs typeface="Arial"/>
                        </a:rPr>
                        <a:t>Interface</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Streamlit with HTML/CSS and UI extensions</a:t>
                      </a:r>
                    </a:p>
                  </a:txBody>
                  <a:tcPr marL="91440" marR="91440" marT="45720" marB="45720">
                    <a:lnR w="9525">
                      <a:solidFill>
                        <a:srgbClr val="D6E1EB"/>
                      </a:solidFill>
                      <a:prstDash val="solid"/>
                    </a:lnR>
                    <a:lnB w="9525">
                      <a:solidFill>
                        <a:srgbClr val="D6E1EB"/>
                      </a:solidFill>
                      <a:prstDash val="solid"/>
                    </a:lnB>
                    <a:solidFill>
                      <a:srgbClr val="EFF4F8"/>
                    </a:solidFill>
                  </a:tcPr>
                </a:tc>
              </a:tr>
              <a:tr h="576943">
                <a:tc>
                  <a:txBody>
                    <a:bodyPr/>
                    <a:lstStyle/>
                    <a:p>
                      <a:r>
                        <a:rPr sz="1875" b="0">
                          <a:solidFill>
                            <a:srgbClr val="243B53"/>
                          </a:solidFill>
                          <a:latin typeface="Arial"/>
                          <a:ea typeface="Arial"/>
                          <a:cs typeface="Arial"/>
                        </a:rPr>
                        <a:t>Visuals</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Plotly, Matplotlib, and Seaborn</a:t>
                      </a:r>
                    </a:p>
                  </a:txBody>
                  <a:tcPr marL="91440" marR="91440" marT="45720" marB="45720">
                    <a:lnR w="9525">
                      <a:solidFill>
                        <a:srgbClr val="D6E1EB"/>
                      </a:solidFill>
                      <a:prstDash val="solid"/>
                    </a:lnR>
                    <a:lnB w="9525">
                      <a:solidFill>
                        <a:srgbClr val="D6E1EB"/>
                      </a:solidFill>
                      <a:prstDash val="solid"/>
                    </a:lnB>
                    <a:solidFill>
                      <a:srgbClr val="FFFFFF"/>
                    </a:solidFill>
                  </a:tcPr>
                </a:tc>
              </a:tr>
              <a:tr h="576943">
                <a:tc>
                  <a:txBody>
                    <a:bodyPr/>
                    <a:lstStyle/>
                    <a:p>
                      <a:r>
                        <a:rPr sz="1875" b="0">
                          <a:solidFill>
                            <a:srgbClr val="243B53"/>
                          </a:solidFill>
                          <a:latin typeface="Arial"/>
                          <a:ea typeface="Arial"/>
                          <a:cs typeface="Arial"/>
                        </a:rPr>
                        <a:t>Storage</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CSV data, Joblib objects, and an HDF5 model</a:t>
                      </a:r>
                    </a:p>
                  </a:txBody>
                  <a:tcPr marL="91440" marR="91440" marT="45720" marB="45720">
                    <a:lnR w="9525">
                      <a:solidFill>
                        <a:srgbClr val="D6E1EB"/>
                      </a:solidFill>
                      <a:prstDash val="solid"/>
                    </a:lnR>
                    <a:lnB w="9525">
                      <a:solidFill>
                        <a:srgbClr val="D6E1EB"/>
                      </a:solidFill>
                      <a:prstDash val="solid"/>
                    </a:lnB>
                    <a:solidFill>
                      <a:srgbClr val="EFF4F8"/>
                    </a:solidFill>
                  </a:tcPr>
                </a:tc>
              </a:tr>
            </a:tbl>
          </a:graphicData>
        </a:graphic>
      </p:graphicFrame>
      <p:sp>
        <p:nvSpPr>
          <p:cNvPr id="4" name="Python 3.12, TensorFlow 2.18, Keras 3.14.1">
            <a:extLst xmlns:a="http://schemas.openxmlformats.org/drawingml/2006/main">
              <a:ext uri="{FF2B5EF4-FFF2-40B4-BE49-F238E27FC236}">
                <a16:creationId xmlns:a16="http://schemas.microsoft.com/office/drawing/2014/main" id="{63E79015-1D75-4977-8AA4-954B44D63815}"/>
              </a:ext>
            </a:extLst>
          </p:cNvPr>
          <p:cNvSpPr>
            <a:spLocks xmlns:a="http://schemas.openxmlformats.org/drawingml/2006/main" noGrp="1"/>
          </p:cNvSpPr>
          <p:nvPr/>
        </p:nvSpPr>
        <p:spPr>
          <a:xfrm xmlns:a="http://schemas.openxmlformats.org/drawingml/2006/main">
            <a:off x="685800" y="57245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Python 3.12, TensorFlow 2.18, Keras 3.14.1, scikit-learn 1.9.0.</a:t>
            </a:r>
          </a:p>
        </p:txBody>
      </p:sp>
    </p:spTree>
    <p:extLst>
      <p:ext uri="{BB962C8B-B14F-4D97-AF65-F5344CB8AC3E}">
        <p14:creationId xmlns:p14="http://schemas.microsoft.com/office/powerpoint/2010/main" val="1808801232"/>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Dataset overview">
            <a:extLst xmlns:a="http://schemas.openxmlformats.org/drawingml/2006/main">
              <a:ext uri="{FF2B5EF4-FFF2-40B4-BE49-F238E27FC236}">
                <a16:creationId xmlns:a16="http://schemas.microsoft.com/office/drawing/2014/main" id="{9CC1177D-0F9A-4B84-881B-3BA668EFDEA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Dataset overview</a:t>
            </a:r>
          </a:p>
        </p:txBody>
      </p:sp>
      <p:sp>
        <p:nvSpPr>
          <p:cNvPr id="2" name="04">
            <a:extLst xmlns:a="http://schemas.openxmlformats.org/drawingml/2006/main">
              <a:ext uri="{FF2B5EF4-FFF2-40B4-BE49-F238E27FC236}">
                <a16:creationId xmlns:a16="http://schemas.microsoft.com/office/drawing/2014/main" id="{50AFC8E4-8534-415B-8F20-B8C9BA793AB5}"/>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04</a:t>
            </a:r>
          </a:p>
        </p:txBody>
      </p:sp>
      <p:graphicFrame>
        <p:nvGraphicFramePr>
          <p:cNvPr id="3" name="Chart">
            <a:extLst xmlns:a="http://schemas.openxmlformats.org/drawingml/2006/main">
              <a:ext uri="{FF2B5EF4-FFF2-40B4-BE49-F238E27FC236}">
                <a16:creationId xmlns:a16="http://schemas.microsoft.com/office/drawing/2014/main" id="{9BD7CEC2-91EB-4FBD-BE45-050FE92B2DAE}"/>
              </a:ext>
            </a:extLst>
          </p:cNvPr>
          <p:cNvGraphicFramePr/>
          <p:nvPr/>
        </p:nvGraphicFramePr>
        <p:xfrm>
          <a:off xmlns:a="http://schemas.openxmlformats.org/drawingml/2006/main" x="685800" y="1571625"/>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5573bcb73bb44ad7"/>
          </a:graphicData>
        </a:graphic>
      </p:graphicFrame>
      <p:sp>
        <p:nvSpPr>
          <p:cNvPr id="4" name="10,000">
            <a:extLst xmlns:a="http://schemas.openxmlformats.org/drawingml/2006/main">
              <a:ext uri="{FF2B5EF4-FFF2-40B4-BE49-F238E27FC236}">
                <a16:creationId xmlns:a16="http://schemas.microsoft.com/office/drawing/2014/main" id="{A2917AB6-C7CE-44F0-A20F-705C05CC70B7}"/>
              </a:ext>
            </a:extLst>
          </p:cNvPr>
          <p:cNvSpPr>
            <a:spLocks xmlns:a="http://schemas.openxmlformats.org/drawingml/2006/main" noGrp="1"/>
          </p:cNvSpPr>
          <p:nvPr/>
        </p:nvSpPr>
        <p:spPr>
          <a:xfrm xmlns:a="http://schemas.openxmlformats.org/drawingml/2006/main">
            <a:off x="8058150" y="18097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0243A"/>
                </a:solidFill>
                <a:latin typeface="Arial"/>
                <a:ea typeface="Arial"/>
                <a:cs typeface="Arial"/>
              </a:defRPr>
            </a:defPPr>
            <a:lvl1pPr>
              <a:defRPr sz="4500" b="1">
                <a:solidFill>
                  <a:srgbClr val="10243A"/>
                </a:solidFill>
                <a:latin typeface="Arial"/>
                <a:ea typeface="Arial"/>
                <a:cs typeface="Arial"/>
              </a:defRPr>
            </a:lvl1pPr>
            <a:lvl2pPr>
              <a:defRPr sz="4500" b="1">
                <a:solidFill>
                  <a:srgbClr val="10243A"/>
                </a:solidFill>
                <a:latin typeface="Arial"/>
                <a:ea typeface="Arial"/>
                <a:cs typeface="Arial"/>
              </a:defRPr>
            </a:lvl2pPr>
            <a:lvl3pPr>
              <a:defRPr sz="4500" b="1">
                <a:solidFill>
                  <a:srgbClr val="10243A"/>
                </a:solidFill>
                <a:latin typeface="Arial"/>
                <a:ea typeface="Arial"/>
                <a:cs typeface="Arial"/>
              </a:defRPr>
            </a:lvl3pPr>
            <a:lvl4pPr>
              <a:defRPr sz="4500" b="1">
                <a:solidFill>
                  <a:srgbClr val="10243A"/>
                </a:solidFill>
                <a:latin typeface="Arial"/>
                <a:ea typeface="Arial"/>
                <a:cs typeface="Arial"/>
              </a:defRPr>
            </a:lvl4pPr>
            <a:lvl5pPr>
              <a:defRPr sz="4500" b="1">
                <a:solidFill>
                  <a:srgbClr val="10243A"/>
                </a:solidFill>
                <a:latin typeface="Arial"/>
                <a:ea typeface="Arial"/>
                <a:cs typeface="Arial"/>
              </a:defRPr>
            </a:lvl5pPr>
            <a:lvl6pPr>
              <a:defRPr sz="4500" b="1">
                <a:solidFill>
                  <a:srgbClr val="10243A"/>
                </a:solidFill>
                <a:latin typeface="Arial"/>
                <a:ea typeface="Arial"/>
                <a:cs typeface="Arial"/>
              </a:defRPr>
            </a:lvl6pPr>
            <a:lvl7pPr>
              <a:defRPr sz="4500" b="1">
                <a:solidFill>
                  <a:srgbClr val="10243A"/>
                </a:solidFill>
                <a:latin typeface="Arial"/>
                <a:ea typeface="Arial"/>
                <a:cs typeface="Arial"/>
              </a:defRPr>
            </a:lvl7pPr>
            <a:lvl8pPr>
              <a:defRPr sz="4500" b="1">
                <a:solidFill>
                  <a:srgbClr val="10243A"/>
                </a:solidFill>
                <a:latin typeface="Arial"/>
                <a:ea typeface="Arial"/>
                <a:cs typeface="Arial"/>
              </a:defRPr>
            </a:lvl8pPr>
            <a:lvl9pPr>
              <a:defRPr sz="4500" b="1">
                <a:solidFill>
                  <a:srgbClr val="10243A"/>
                </a:solidFill>
                <a:latin typeface="Arial"/>
                <a:ea typeface="Arial"/>
                <a:cs typeface="Arial"/>
              </a:defRPr>
            </a:lvl9pPr>
          </a:lstStyle>
          <a:p xmlns:a="http://schemas.openxmlformats.org/drawingml/2006/main">
            <a:pPr>
              <a:defRPr sz="4500" b="1">
                <a:solidFill>
                  <a:srgbClr val="10243A"/>
                </a:solidFill>
                <a:latin typeface="Arial"/>
                <a:ea typeface="Arial"/>
                <a:cs typeface="Arial"/>
              </a:defRPr>
            </a:pPr>
            <a:r>
              <a:rPr sz="4500" b="1">
                <a:solidFill>
                  <a:srgbClr val="10243A"/>
                </a:solidFill>
                <a:latin typeface="Arial"/>
                <a:ea typeface="Arial"/>
                <a:cs typeface="Arial"/>
              </a:rPr>
              <a:t>10,000</a:t>
            </a:r>
          </a:p>
        </p:txBody>
      </p:sp>
      <p:sp>
        <p:nvSpPr>
          <p:cNvPr id="5" name="customer records">
            <a:extLst xmlns:a="http://schemas.openxmlformats.org/drawingml/2006/main">
              <a:ext uri="{FF2B5EF4-FFF2-40B4-BE49-F238E27FC236}">
                <a16:creationId xmlns:a16="http://schemas.microsoft.com/office/drawing/2014/main" id="{186BE789-2B5C-4601-B25D-BC07D111AE63}"/>
              </a:ext>
            </a:extLst>
          </p:cNvPr>
          <p:cNvSpPr>
            <a:spLocks xmlns:a="http://schemas.openxmlformats.org/drawingml/2006/main" noGrp="1"/>
          </p:cNvSpPr>
          <p:nvPr/>
        </p:nvSpPr>
        <p:spPr>
          <a:xfrm xmlns:a="http://schemas.openxmlformats.org/drawingml/2006/main">
            <a:off x="8058150" y="26384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43B53"/>
                </a:solidFill>
                <a:latin typeface="Arial"/>
                <a:ea typeface="Arial"/>
                <a:cs typeface="Arial"/>
              </a:defRPr>
            </a:defPPr>
            <a:lvl1pPr>
              <a:defRPr sz="2025" b="0">
                <a:solidFill>
                  <a:srgbClr val="243B53"/>
                </a:solidFill>
                <a:latin typeface="Arial"/>
                <a:ea typeface="Arial"/>
                <a:cs typeface="Arial"/>
              </a:defRPr>
            </a:lvl1pPr>
            <a:lvl2pPr>
              <a:defRPr sz="2025" b="0">
                <a:solidFill>
                  <a:srgbClr val="243B53"/>
                </a:solidFill>
                <a:latin typeface="Arial"/>
                <a:ea typeface="Arial"/>
                <a:cs typeface="Arial"/>
              </a:defRPr>
            </a:lvl2pPr>
            <a:lvl3pPr>
              <a:defRPr sz="2025" b="0">
                <a:solidFill>
                  <a:srgbClr val="243B53"/>
                </a:solidFill>
                <a:latin typeface="Arial"/>
                <a:ea typeface="Arial"/>
                <a:cs typeface="Arial"/>
              </a:defRPr>
            </a:lvl3pPr>
            <a:lvl4pPr>
              <a:defRPr sz="2025" b="0">
                <a:solidFill>
                  <a:srgbClr val="243B53"/>
                </a:solidFill>
                <a:latin typeface="Arial"/>
                <a:ea typeface="Arial"/>
                <a:cs typeface="Arial"/>
              </a:defRPr>
            </a:lvl4pPr>
            <a:lvl5pPr>
              <a:defRPr sz="2025" b="0">
                <a:solidFill>
                  <a:srgbClr val="243B53"/>
                </a:solidFill>
                <a:latin typeface="Arial"/>
                <a:ea typeface="Arial"/>
                <a:cs typeface="Arial"/>
              </a:defRPr>
            </a:lvl5pPr>
            <a:lvl6pPr>
              <a:defRPr sz="2025" b="0">
                <a:solidFill>
                  <a:srgbClr val="243B53"/>
                </a:solidFill>
                <a:latin typeface="Arial"/>
                <a:ea typeface="Arial"/>
                <a:cs typeface="Arial"/>
              </a:defRPr>
            </a:lvl6pPr>
            <a:lvl7pPr>
              <a:defRPr sz="2025" b="0">
                <a:solidFill>
                  <a:srgbClr val="243B53"/>
                </a:solidFill>
                <a:latin typeface="Arial"/>
                <a:ea typeface="Arial"/>
                <a:cs typeface="Arial"/>
              </a:defRPr>
            </a:lvl7pPr>
            <a:lvl8pPr>
              <a:defRPr sz="2025" b="0">
                <a:solidFill>
                  <a:srgbClr val="243B53"/>
                </a:solidFill>
                <a:latin typeface="Arial"/>
                <a:ea typeface="Arial"/>
                <a:cs typeface="Arial"/>
              </a:defRPr>
            </a:lvl8pPr>
            <a:lvl9pPr>
              <a:defRPr sz="2025" b="0">
                <a:solidFill>
                  <a:srgbClr val="243B53"/>
                </a:solidFill>
                <a:latin typeface="Arial"/>
                <a:ea typeface="Arial"/>
                <a:cs typeface="Arial"/>
              </a:defRPr>
            </a:lvl9pPr>
          </a:lstStyle>
          <a:p xmlns:a="http://schemas.openxmlformats.org/drawingml/2006/main">
            <a:pPr>
              <a:defRPr sz="2025" b="0">
                <a:solidFill>
                  <a:srgbClr val="243B53"/>
                </a:solidFill>
                <a:latin typeface="Arial"/>
                <a:ea typeface="Arial"/>
                <a:cs typeface="Arial"/>
              </a:defRPr>
            </a:pPr>
            <a:r>
              <a:rPr sz="2025" b="0">
                <a:solidFill>
                  <a:srgbClr val="243B53"/>
                </a:solidFill>
                <a:latin typeface="Arial"/>
                <a:ea typeface="Arial"/>
                <a:cs typeface="Arial"/>
              </a:rPr>
              <a:t>customer records</a:t>
            </a:r>
          </a:p>
        </p:txBody>
      </p:sp>
      <p:sp>
        <p:nvSpPr>
          <p:cNvPr id="6" name="20.37%">
            <a:extLst xmlns:a="http://schemas.openxmlformats.org/drawingml/2006/main">
              <a:ext uri="{FF2B5EF4-FFF2-40B4-BE49-F238E27FC236}">
                <a16:creationId xmlns:a16="http://schemas.microsoft.com/office/drawing/2014/main" id="{0B985C14-1055-4A07-AA37-248A076F97AE}"/>
              </a:ext>
            </a:extLst>
          </p:cNvPr>
          <p:cNvSpPr>
            <a:spLocks xmlns:a="http://schemas.openxmlformats.org/drawingml/2006/main" noGrp="1"/>
          </p:cNvSpPr>
          <p:nvPr/>
        </p:nvSpPr>
        <p:spPr>
          <a:xfrm xmlns:a="http://schemas.openxmlformats.org/drawingml/2006/main">
            <a:off x="8058150" y="35433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087E8B"/>
                </a:solidFill>
                <a:latin typeface="Arial"/>
                <a:ea typeface="Arial"/>
                <a:cs typeface="Arial"/>
              </a:defRPr>
            </a:defPPr>
            <a:lvl1pPr>
              <a:defRPr sz="4125" b="1">
                <a:solidFill>
                  <a:srgbClr val="087E8B"/>
                </a:solidFill>
                <a:latin typeface="Arial"/>
                <a:ea typeface="Arial"/>
                <a:cs typeface="Arial"/>
              </a:defRPr>
            </a:lvl1pPr>
            <a:lvl2pPr>
              <a:defRPr sz="4125" b="1">
                <a:solidFill>
                  <a:srgbClr val="087E8B"/>
                </a:solidFill>
                <a:latin typeface="Arial"/>
                <a:ea typeface="Arial"/>
                <a:cs typeface="Arial"/>
              </a:defRPr>
            </a:lvl2pPr>
            <a:lvl3pPr>
              <a:defRPr sz="4125" b="1">
                <a:solidFill>
                  <a:srgbClr val="087E8B"/>
                </a:solidFill>
                <a:latin typeface="Arial"/>
                <a:ea typeface="Arial"/>
                <a:cs typeface="Arial"/>
              </a:defRPr>
            </a:lvl3pPr>
            <a:lvl4pPr>
              <a:defRPr sz="4125" b="1">
                <a:solidFill>
                  <a:srgbClr val="087E8B"/>
                </a:solidFill>
                <a:latin typeface="Arial"/>
                <a:ea typeface="Arial"/>
                <a:cs typeface="Arial"/>
              </a:defRPr>
            </a:lvl4pPr>
            <a:lvl5pPr>
              <a:defRPr sz="4125" b="1">
                <a:solidFill>
                  <a:srgbClr val="087E8B"/>
                </a:solidFill>
                <a:latin typeface="Arial"/>
                <a:ea typeface="Arial"/>
                <a:cs typeface="Arial"/>
              </a:defRPr>
            </a:lvl5pPr>
            <a:lvl6pPr>
              <a:defRPr sz="4125" b="1">
                <a:solidFill>
                  <a:srgbClr val="087E8B"/>
                </a:solidFill>
                <a:latin typeface="Arial"/>
                <a:ea typeface="Arial"/>
                <a:cs typeface="Arial"/>
              </a:defRPr>
            </a:lvl6pPr>
            <a:lvl7pPr>
              <a:defRPr sz="4125" b="1">
                <a:solidFill>
                  <a:srgbClr val="087E8B"/>
                </a:solidFill>
                <a:latin typeface="Arial"/>
                <a:ea typeface="Arial"/>
                <a:cs typeface="Arial"/>
              </a:defRPr>
            </a:lvl7pPr>
            <a:lvl8pPr>
              <a:defRPr sz="4125" b="1">
                <a:solidFill>
                  <a:srgbClr val="087E8B"/>
                </a:solidFill>
                <a:latin typeface="Arial"/>
                <a:ea typeface="Arial"/>
                <a:cs typeface="Arial"/>
              </a:defRPr>
            </a:lvl8pPr>
            <a:lvl9pPr>
              <a:defRPr sz="4125" b="1">
                <a:solidFill>
                  <a:srgbClr val="087E8B"/>
                </a:solidFill>
                <a:latin typeface="Arial"/>
                <a:ea typeface="Arial"/>
                <a:cs typeface="Arial"/>
              </a:defRPr>
            </a:lvl9pPr>
          </a:lstStyle>
          <a:p xmlns:a="http://schemas.openxmlformats.org/drawingml/2006/main">
            <a:pPr>
              <a:defRPr sz="4125" b="1">
                <a:solidFill>
                  <a:srgbClr val="087E8B"/>
                </a:solidFill>
                <a:latin typeface="Arial"/>
                <a:ea typeface="Arial"/>
                <a:cs typeface="Arial"/>
              </a:defRPr>
            </a:pPr>
            <a:r>
              <a:rPr sz="4125" b="1">
                <a:solidFill>
                  <a:srgbClr val="087E8B"/>
                </a:solidFill>
                <a:latin typeface="Arial"/>
                <a:ea typeface="Arial"/>
                <a:cs typeface="Arial"/>
              </a:rPr>
              <a:t>20.37%</a:t>
            </a:r>
          </a:p>
        </p:txBody>
      </p:sp>
      <p:sp>
        <p:nvSpPr>
          <p:cNvPr id="7" name="historical churn rate">
            <a:extLst xmlns:a="http://schemas.openxmlformats.org/drawingml/2006/main">
              <a:ext uri="{FF2B5EF4-FFF2-40B4-BE49-F238E27FC236}">
                <a16:creationId xmlns:a16="http://schemas.microsoft.com/office/drawing/2014/main" id="{F950DB5B-6618-46A7-AF96-836688DCA823}"/>
              </a:ext>
            </a:extLst>
          </p:cNvPr>
          <p:cNvSpPr>
            <a:spLocks xmlns:a="http://schemas.openxmlformats.org/drawingml/2006/main" noGrp="1"/>
          </p:cNvSpPr>
          <p:nvPr/>
        </p:nvSpPr>
        <p:spPr>
          <a:xfrm xmlns:a="http://schemas.openxmlformats.org/drawingml/2006/main">
            <a:off x="8058150" y="43719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43B53"/>
                </a:solidFill>
                <a:latin typeface="Arial"/>
                <a:ea typeface="Arial"/>
                <a:cs typeface="Arial"/>
              </a:defRPr>
            </a:defPPr>
            <a:lvl1pPr>
              <a:defRPr sz="2025" b="0">
                <a:solidFill>
                  <a:srgbClr val="243B53"/>
                </a:solidFill>
                <a:latin typeface="Arial"/>
                <a:ea typeface="Arial"/>
                <a:cs typeface="Arial"/>
              </a:defRPr>
            </a:lvl1pPr>
            <a:lvl2pPr>
              <a:defRPr sz="2025" b="0">
                <a:solidFill>
                  <a:srgbClr val="243B53"/>
                </a:solidFill>
                <a:latin typeface="Arial"/>
                <a:ea typeface="Arial"/>
                <a:cs typeface="Arial"/>
              </a:defRPr>
            </a:lvl2pPr>
            <a:lvl3pPr>
              <a:defRPr sz="2025" b="0">
                <a:solidFill>
                  <a:srgbClr val="243B53"/>
                </a:solidFill>
                <a:latin typeface="Arial"/>
                <a:ea typeface="Arial"/>
                <a:cs typeface="Arial"/>
              </a:defRPr>
            </a:lvl3pPr>
            <a:lvl4pPr>
              <a:defRPr sz="2025" b="0">
                <a:solidFill>
                  <a:srgbClr val="243B53"/>
                </a:solidFill>
                <a:latin typeface="Arial"/>
                <a:ea typeface="Arial"/>
                <a:cs typeface="Arial"/>
              </a:defRPr>
            </a:lvl4pPr>
            <a:lvl5pPr>
              <a:defRPr sz="2025" b="0">
                <a:solidFill>
                  <a:srgbClr val="243B53"/>
                </a:solidFill>
                <a:latin typeface="Arial"/>
                <a:ea typeface="Arial"/>
                <a:cs typeface="Arial"/>
              </a:defRPr>
            </a:lvl5pPr>
            <a:lvl6pPr>
              <a:defRPr sz="2025" b="0">
                <a:solidFill>
                  <a:srgbClr val="243B53"/>
                </a:solidFill>
                <a:latin typeface="Arial"/>
                <a:ea typeface="Arial"/>
                <a:cs typeface="Arial"/>
              </a:defRPr>
            </a:lvl6pPr>
            <a:lvl7pPr>
              <a:defRPr sz="2025" b="0">
                <a:solidFill>
                  <a:srgbClr val="243B53"/>
                </a:solidFill>
                <a:latin typeface="Arial"/>
                <a:ea typeface="Arial"/>
                <a:cs typeface="Arial"/>
              </a:defRPr>
            </a:lvl7pPr>
            <a:lvl8pPr>
              <a:defRPr sz="2025" b="0">
                <a:solidFill>
                  <a:srgbClr val="243B53"/>
                </a:solidFill>
                <a:latin typeface="Arial"/>
                <a:ea typeface="Arial"/>
                <a:cs typeface="Arial"/>
              </a:defRPr>
            </a:lvl8pPr>
            <a:lvl9pPr>
              <a:defRPr sz="2025" b="0">
                <a:solidFill>
                  <a:srgbClr val="243B53"/>
                </a:solidFill>
                <a:latin typeface="Arial"/>
                <a:ea typeface="Arial"/>
                <a:cs typeface="Arial"/>
              </a:defRPr>
            </a:lvl9pPr>
          </a:lstStyle>
          <a:p xmlns:a="http://schemas.openxmlformats.org/drawingml/2006/main">
            <a:pPr>
              <a:defRPr sz="2025" b="0">
                <a:solidFill>
                  <a:srgbClr val="243B53"/>
                </a:solidFill>
                <a:latin typeface="Arial"/>
                <a:ea typeface="Arial"/>
                <a:cs typeface="Arial"/>
              </a:defRPr>
            </a:pPr>
            <a:r>
              <a:rPr sz="2025" b="0">
                <a:solidFill>
                  <a:srgbClr val="243B53"/>
                </a:solidFill>
                <a:latin typeface="Arial"/>
                <a:ea typeface="Arial"/>
                <a:cs typeface="Arial"/>
              </a:rPr>
              <a:t>historical churn rate</a:t>
            </a:r>
          </a:p>
        </p:txBody>
      </p:sp>
    </p:spTree>
    <p:extLst>
      <p:ext uri="{BB962C8B-B14F-4D97-AF65-F5344CB8AC3E}">
        <p14:creationId xmlns:p14="http://schemas.microsoft.com/office/powerpoint/2010/main" val="645813666"/>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n customer inputs">
            <a:extLst xmlns:a="http://schemas.openxmlformats.org/drawingml/2006/main">
              <a:ext uri="{FF2B5EF4-FFF2-40B4-BE49-F238E27FC236}">
                <a16:creationId xmlns:a16="http://schemas.microsoft.com/office/drawing/2014/main" id="{9EA57E12-8C00-41DA-902A-D158BFC4CE8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Ten customer inputs</a:t>
            </a:r>
          </a:p>
        </p:txBody>
      </p:sp>
      <p:sp>
        <p:nvSpPr>
          <p:cNvPr id="2" name="05">
            <a:extLst xmlns:a="http://schemas.openxmlformats.org/drawingml/2006/main">
              <a:ext uri="{FF2B5EF4-FFF2-40B4-BE49-F238E27FC236}">
                <a16:creationId xmlns:a16="http://schemas.microsoft.com/office/drawing/2014/main" id="{FE5B247B-E181-44F2-B762-B2ED4E312DA2}"/>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05</a:t>
            </a:r>
          </a:p>
        </p:txBody>
      </p:sp>
      <p:sp>
        <p:nvSpPr>
          <p:cNvPr id="3" name="Profile and relationship">
            <a:extLst xmlns:a="http://schemas.openxmlformats.org/drawingml/2006/main">
              <a:ext uri="{FF2B5EF4-FFF2-40B4-BE49-F238E27FC236}">
                <a16:creationId xmlns:a16="http://schemas.microsoft.com/office/drawing/2014/main" id="{BB5ADDF8-F987-4DC7-B857-E96F655A2F4B}"/>
              </a:ext>
            </a:extLst>
          </p:cNvPr>
          <p:cNvSpPr>
            <a:spLocks xmlns:a="http://schemas.openxmlformats.org/drawingml/2006/main" noGrp="1"/>
          </p:cNvSpPr>
          <p:nvPr/>
        </p:nvSpPr>
        <p:spPr>
          <a:xfrm xmlns:a="http://schemas.openxmlformats.org/drawingml/2006/main">
            <a:off x="762000" y="15811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87E8B"/>
                </a:solidFill>
                <a:latin typeface="Arial"/>
                <a:ea typeface="Arial"/>
                <a:cs typeface="Arial"/>
              </a:defRPr>
            </a:defPPr>
            <a:lvl1pPr>
              <a:defRPr sz="2325" b="1">
                <a:solidFill>
                  <a:srgbClr val="087E8B"/>
                </a:solidFill>
                <a:latin typeface="Arial"/>
                <a:ea typeface="Arial"/>
                <a:cs typeface="Arial"/>
              </a:defRPr>
            </a:lvl1pPr>
            <a:lvl2pPr>
              <a:defRPr sz="2325" b="1">
                <a:solidFill>
                  <a:srgbClr val="087E8B"/>
                </a:solidFill>
                <a:latin typeface="Arial"/>
                <a:ea typeface="Arial"/>
                <a:cs typeface="Arial"/>
              </a:defRPr>
            </a:lvl2pPr>
            <a:lvl3pPr>
              <a:defRPr sz="2325" b="1">
                <a:solidFill>
                  <a:srgbClr val="087E8B"/>
                </a:solidFill>
                <a:latin typeface="Arial"/>
                <a:ea typeface="Arial"/>
                <a:cs typeface="Arial"/>
              </a:defRPr>
            </a:lvl3pPr>
            <a:lvl4pPr>
              <a:defRPr sz="2325" b="1">
                <a:solidFill>
                  <a:srgbClr val="087E8B"/>
                </a:solidFill>
                <a:latin typeface="Arial"/>
                <a:ea typeface="Arial"/>
                <a:cs typeface="Arial"/>
              </a:defRPr>
            </a:lvl4pPr>
            <a:lvl5pPr>
              <a:defRPr sz="2325" b="1">
                <a:solidFill>
                  <a:srgbClr val="087E8B"/>
                </a:solidFill>
                <a:latin typeface="Arial"/>
                <a:ea typeface="Arial"/>
                <a:cs typeface="Arial"/>
              </a:defRPr>
            </a:lvl5pPr>
            <a:lvl6pPr>
              <a:defRPr sz="2325" b="1">
                <a:solidFill>
                  <a:srgbClr val="087E8B"/>
                </a:solidFill>
                <a:latin typeface="Arial"/>
                <a:ea typeface="Arial"/>
                <a:cs typeface="Arial"/>
              </a:defRPr>
            </a:lvl6pPr>
            <a:lvl7pPr>
              <a:defRPr sz="2325" b="1">
                <a:solidFill>
                  <a:srgbClr val="087E8B"/>
                </a:solidFill>
                <a:latin typeface="Arial"/>
                <a:ea typeface="Arial"/>
                <a:cs typeface="Arial"/>
              </a:defRPr>
            </a:lvl7pPr>
            <a:lvl8pPr>
              <a:defRPr sz="2325" b="1">
                <a:solidFill>
                  <a:srgbClr val="087E8B"/>
                </a:solidFill>
                <a:latin typeface="Arial"/>
                <a:ea typeface="Arial"/>
                <a:cs typeface="Arial"/>
              </a:defRPr>
            </a:lvl8pPr>
            <a:lvl9pPr>
              <a:defRPr sz="2325" b="1">
                <a:solidFill>
                  <a:srgbClr val="087E8B"/>
                </a:solidFill>
                <a:latin typeface="Arial"/>
                <a:ea typeface="Arial"/>
                <a:cs typeface="Arial"/>
              </a:defRPr>
            </a:lvl9pPr>
          </a:lstStyle>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Profile and relationship</a:t>
            </a:r>
          </a:p>
        </p:txBody>
      </p:sp>
      <p:sp>
        <p:nvSpPr>
          <p:cNvPr id="4" name="Credit score&#10;Country&#10;Gender&#10;Age&#10;Years with">
            <a:extLst xmlns:a="http://schemas.openxmlformats.org/drawingml/2006/main">
              <a:ext uri="{FF2B5EF4-FFF2-40B4-BE49-F238E27FC236}">
                <a16:creationId xmlns:a16="http://schemas.microsoft.com/office/drawing/2014/main" id="{3C317A11-E09B-4BB6-941B-4AA2D015FAEC}"/>
              </a:ext>
            </a:extLst>
          </p:cNvPr>
          <p:cNvSpPr>
            <a:spLocks xmlns:a="http://schemas.openxmlformats.org/drawingml/2006/main" noGrp="1"/>
          </p:cNvSpPr>
          <p:nvPr/>
        </p:nvSpPr>
        <p:spPr>
          <a:xfrm xmlns:a="http://schemas.openxmlformats.org/drawingml/2006/main">
            <a:off x="762000" y="2343150"/>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latin typeface="Arial"/>
                <a:ea typeface="Arial"/>
                <a:cs typeface="Arial"/>
              </a:defRPr>
            </a:defPPr>
            <a:lvl1pPr>
              <a:defRPr sz="2325" b="0">
                <a:solidFill>
                  <a:srgbClr val="243B53"/>
                </a:solidFill>
                <a:latin typeface="Arial"/>
                <a:ea typeface="Arial"/>
                <a:cs typeface="Arial"/>
              </a:defRPr>
            </a:lvl1pPr>
            <a:lvl2pPr>
              <a:defRPr sz="2325" b="0">
                <a:solidFill>
                  <a:srgbClr val="243B53"/>
                </a:solidFill>
                <a:latin typeface="Arial"/>
                <a:ea typeface="Arial"/>
                <a:cs typeface="Arial"/>
              </a:defRPr>
            </a:lvl2pPr>
            <a:lvl3pPr>
              <a:defRPr sz="2325" b="0">
                <a:solidFill>
                  <a:srgbClr val="243B53"/>
                </a:solidFill>
                <a:latin typeface="Arial"/>
                <a:ea typeface="Arial"/>
                <a:cs typeface="Arial"/>
              </a:defRPr>
            </a:lvl3pPr>
            <a:lvl4pPr>
              <a:defRPr sz="2325" b="0">
                <a:solidFill>
                  <a:srgbClr val="243B53"/>
                </a:solidFill>
                <a:latin typeface="Arial"/>
                <a:ea typeface="Arial"/>
                <a:cs typeface="Arial"/>
              </a:defRPr>
            </a:lvl4pPr>
            <a:lvl5pPr>
              <a:defRPr sz="2325" b="0">
                <a:solidFill>
                  <a:srgbClr val="243B53"/>
                </a:solidFill>
                <a:latin typeface="Arial"/>
                <a:ea typeface="Arial"/>
                <a:cs typeface="Arial"/>
              </a:defRPr>
            </a:lvl5pPr>
            <a:lvl6pPr>
              <a:defRPr sz="2325" b="0">
                <a:solidFill>
                  <a:srgbClr val="243B53"/>
                </a:solidFill>
                <a:latin typeface="Arial"/>
                <a:ea typeface="Arial"/>
                <a:cs typeface="Arial"/>
              </a:defRPr>
            </a:lvl6pPr>
            <a:lvl7pPr>
              <a:defRPr sz="2325" b="0">
                <a:solidFill>
                  <a:srgbClr val="243B53"/>
                </a:solidFill>
                <a:latin typeface="Arial"/>
                <a:ea typeface="Arial"/>
                <a:cs typeface="Arial"/>
              </a:defRPr>
            </a:lvl7pPr>
            <a:lvl8pPr>
              <a:defRPr sz="2325" b="0">
                <a:solidFill>
                  <a:srgbClr val="243B53"/>
                </a:solidFill>
                <a:latin typeface="Arial"/>
                <a:ea typeface="Arial"/>
                <a:cs typeface="Arial"/>
              </a:defRPr>
            </a:lvl8pPr>
            <a:lvl9pPr>
              <a:defRPr sz="2325" b="0">
                <a:solidFill>
                  <a:srgbClr val="243B53"/>
                </a:solidFill>
                <a:latin typeface="Arial"/>
                <a:ea typeface="Arial"/>
                <a:cs typeface="Arial"/>
              </a:defRPr>
            </a:lvl9pPr>
          </a:lstStyle>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Credit score</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Country</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Gender</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Age</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Years with the bank</a:t>
            </a:r>
          </a:p>
        </p:txBody>
      </p:sp>
      <p:sp>
        <p:nvSpPr>
          <p:cNvPr id="5" name="Banking and engagement">
            <a:extLst xmlns:a="http://schemas.openxmlformats.org/drawingml/2006/main">
              <a:ext uri="{FF2B5EF4-FFF2-40B4-BE49-F238E27FC236}">
                <a16:creationId xmlns:a16="http://schemas.microsoft.com/office/drawing/2014/main" id="{2F3FAFE6-236C-4DAA-BDAD-8CB09B28DC7C}"/>
              </a:ext>
            </a:extLst>
          </p:cNvPr>
          <p:cNvSpPr>
            <a:spLocks xmlns:a="http://schemas.openxmlformats.org/drawingml/2006/main" noGrp="1"/>
          </p:cNvSpPr>
          <p:nvPr/>
        </p:nvSpPr>
        <p:spPr>
          <a:xfrm xmlns:a="http://schemas.openxmlformats.org/drawingml/2006/main">
            <a:off x="6534150" y="1581150"/>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87E8B"/>
                </a:solidFill>
                <a:latin typeface="Arial"/>
                <a:ea typeface="Arial"/>
                <a:cs typeface="Arial"/>
              </a:defRPr>
            </a:defPPr>
            <a:lvl1pPr>
              <a:defRPr sz="2325" b="1">
                <a:solidFill>
                  <a:srgbClr val="087E8B"/>
                </a:solidFill>
                <a:latin typeface="Arial"/>
                <a:ea typeface="Arial"/>
                <a:cs typeface="Arial"/>
              </a:defRPr>
            </a:lvl1pPr>
            <a:lvl2pPr>
              <a:defRPr sz="2325" b="1">
                <a:solidFill>
                  <a:srgbClr val="087E8B"/>
                </a:solidFill>
                <a:latin typeface="Arial"/>
                <a:ea typeface="Arial"/>
                <a:cs typeface="Arial"/>
              </a:defRPr>
            </a:lvl2pPr>
            <a:lvl3pPr>
              <a:defRPr sz="2325" b="1">
                <a:solidFill>
                  <a:srgbClr val="087E8B"/>
                </a:solidFill>
                <a:latin typeface="Arial"/>
                <a:ea typeface="Arial"/>
                <a:cs typeface="Arial"/>
              </a:defRPr>
            </a:lvl3pPr>
            <a:lvl4pPr>
              <a:defRPr sz="2325" b="1">
                <a:solidFill>
                  <a:srgbClr val="087E8B"/>
                </a:solidFill>
                <a:latin typeface="Arial"/>
                <a:ea typeface="Arial"/>
                <a:cs typeface="Arial"/>
              </a:defRPr>
            </a:lvl4pPr>
            <a:lvl5pPr>
              <a:defRPr sz="2325" b="1">
                <a:solidFill>
                  <a:srgbClr val="087E8B"/>
                </a:solidFill>
                <a:latin typeface="Arial"/>
                <a:ea typeface="Arial"/>
                <a:cs typeface="Arial"/>
              </a:defRPr>
            </a:lvl5pPr>
            <a:lvl6pPr>
              <a:defRPr sz="2325" b="1">
                <a:solidFill>
                  <a:srgbClr val="087E8B"/>
                </a:solidFill>
                <a:latin typeface="Arial"/>
                <a:ea typeface="Arial"/>
                <a:cs typeface="Arial"/>
              </a:defRPr>
            </a:lvl6pPr>
            <a:lvl7pPr>
              <a:defRPr sz="2325" b="1">
                <a:solidFill>
                  <a:srgbClr val="087E8B"/>
                </a:solidFill>
                <a:latin typeface="Arial"/>
                <a:ea typeface="Arial"/>
                <a:cs typeface="Arial"/>
              </a:defRPr>
            </a:lvl7pPr>
            <a:lvl8pPr>
              <a:defRPr sz="2325" b="1">
                <a:solidFill>
                  <a:srgbClr val="087E8B"/>
                </a:solidFill>
                <a:latin typeface="Arial"/>
                <a:ea typeface="Arial"/>
                <a:cs typeface="Arial"/>
              </a:defRPr>
            </a:lvl8pPr>
            <a:lvl9pPr>
              <a:defRPr sz="2325" b="1">
                <a:solidFill>
                  <a:srgbClr val="087E8B"/>
                </a:solidFill>
                <a:latin typeface="Arial"/>
                <a:ea typeface="Arial"/>
                <a:cs typeface="Arial"/>
              </a:defRPr>
            </a:lvl9pPr>
          </a:lstStyle>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Banking and engagement</a:t>
            </a:r>
          </a:p>
        </p:txBody>
      </p:sp>
      <p:sp>
        <p:nvSpPr>
          <p:cNvPr id="6" name="Account balance&#10;Number of products&#10;Credit ">
            <a:extLst xmlns:a="http://schemas.openxmlformats.org/drawingml/2006/main">
              <a:ext uri="{FF2B5EF4-FFF2-40B4-BE49-F238E27FC236}">
                <a16:creationId xmlns:a16="http://schemas.microsoft.com/office/drawing/2014/main" id="{49D480B1-8BF8-4575-ABB9-8ECC52E73294}"/>
              </a:ext>
            </a:extLst>
          </p:cNvPr>
          <p:cNvSpPr>
            <a:spLocks xmlns:a="http://schemas.openxmlformats.org/drawingml/2006/main" noGrp="1"/>
          </p:cNvSpPr>
          <p:nvPr/>
        </p:nvSpPr>
        <p:spPr>
          <a:xfrm xmlns:a="http://schemas.openxmlformats.org/drawingml/2006/main">
            <a:off x="6534150" y="2343150"/>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latin typeface="Arial"/>
                <a:ea typeface="Arial"/>
                <a:cs typeface="Arial"/>
              </a:defRPr>
            </a:defPPr>
            <a:lvl1pPr>
              <a:defRPr sz="2325" b="0">
                <a:solidFill>
                  <a:srgbClr val="243B53"/>
                </a:solidFill>
                <a:latin typeface="Arial"/>
                <a:ea typeface="Arial"/>
                <a:cs typeface="Arial"/>
              </a:defRPr>
            </a:lvl1pPr>
            <a:lvl2pPr>
              <a:defRPr sz="2325" b="0">
                <a:solidFill>
                  <a:srgbClr val="243B53"/>
                </a:solidFill>
                <a:latin typeface="Arial"/>
                <a:ea typeface="Arial"/>
                <a:cs typeface="Arial"/>
              </a:defRPr>
            </a:lvl2pPr>
            <a:lvl3pPr>
              <a:defRPr sz="2325" b="0">
                <a:solidFill>
                  <a:srgbClr val="243B53"/>
                </a:solidFill>
                <a:latin typeface="Arial"/>
                <a:ea typeface="Arial"/>
                <a:cs typeface="Arial"/>
              </a:defRPr>
            </a:lvl3pPr>
            <a:lvl4pPr>
              <a:defRPr sz="2325" b="0">
                <a:solidFill>
                  <a:srgbClr val="243B53"/>
                </a:solidFill>
                <a:latin typeface="Arial"/>
                <a:ea typeface="Arial"/>
                <a:cs typeface="Arial"/>
              </a:defRPr>
            </a:lvl4pPr>
            <a:lvl5pPr>
              <a:defRPr sz="2325" b="0">
                <a:solidFill>
                  <a:srgbClr val="243B53"/>
                </a:solidFill>
                <a:latin typeface="Arial"/>
                <a:ea typeface="Arial"/>
                <a:cs typeface="Arial"/>
              </a:defRPr>
            </a:lvl5pPr>
            <a:lvl6pPr>
              <a:defRPr sz="2325" b="0">
                <a:solidFill>
                  <a:srgbClr val="243B53"/>
                </a:solidFill>
                <a:latin typeface="Arial"/>
                <a:ea typeface="Arial"/>
                <a:cs typeface="Arial"/>
              </a:defRPr>
            </a:lvl6pPr>
            <a:lvl7pPr>
              <a:defRPr sz="2325" b="0">
                <a:solidFill>
                  <a:srgbClr val="243B53"/>
                </a:solidFill>
                <a:latin typeface="Arial"/>
                <a:ea typeface="Arial"/>
                <a:cs typeface="Arial"/>
              </a:defRPr>
            </a:lvl7pPr>
            <a:lvl8pPr>
              <a:defRPr sz="2325" b="0">
                <a:solidFill>
                  <a:srgbClr val="243B53"/>
                </a:solidFill>
                <a:latin typeface="Arial"/>
                <a:ea typeface="Arial"/>
                <a:cs typeface="Arial"/>
              </a:defRPr>
            </a:lvl8pPr>
            <a:lvl9pPr>
              <a:defRPr sz="2325" b="0">
                <a:solidFill>
                  <a:srgbClr val="243B53"/>
                </a:solidFill>
                <a:latin typeface="Arial"/>
                <a:ea typeface="Arial"/>
                <a:cs typeface="Arial"/>
              </a:defRPr>
            </a:lvl9pPr>
          </a:lstStyle>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Account balance</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Number of products</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Credit card status</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Active membership</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Estimated salary</a:t>
            </a:r>
          </a:p>
        </p:txBody>
      </p:sp>
      <p:sp>
        <p:nvSpPr>
          <p:cNvPr id="7" name="Row number, customer ID, and surname are e">
            <a:extLst xmlns:a="http://schemas.openxmlformats.org/drawingml/2006/main">
              <a:ext uri="{FF2B5EF4-FFF2-40B4-BE49-F238E27FC236}">
                <a16:creationId xmlns:a16="http://schemas.microsoft.com/office/drawing/2014/main" id="{F855E86E-5839-4EBF-980A-C8A6246B4CE2}"/>
              </a:ext>
            </a:extLst>
          </p:cNvPr>
          <p:cNvSpPr>
            <a:spLocks xmlns:a="http://schemas.openxmlformats.org/drawingml/2006/main" noGrp="1"/>
          </p:cNvSpPr>
          <p:nvPr/>
        </p:nvSpPr>
        <p:spPr>
          <a:xfrm xmlns:a="http://schemas.openxmlformats.org/drawingml/2006/main">
            <a:off x="685800" y="57245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Row number, customer ID, and surname are excluded from the model.</a:t>
            </a:r>
          </a:p>
        </p:txBody>
      </p:sp>
    </p:spTree>
    <p:extLst>
      <p:ext uri="{BB962C8B-B14F-4D97-AF65-F5344CB8AC3E}">
        <p14:creationId xmlns:p14="http://schemas.microsoft.com/office/powerpoint/2010/main" val="825719544"/>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Feature engineering and preprocessing">
            <a:extLst xmlns:a="http://schemas.openxmlformats.org/drawingml/2006/main">
              <a:ext uri="{FF2B5EF4-FFF2-40B4-BE49-F238E27FC236}">
                <a16:creationId xmlns:a16="http://schemas.microsoft.com/office/drawing/2014/main" id="{5925BC99-FB59-4E36-9774-8619ADCEB738}"/>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Feature engineering and preprocessing</a:t>
            </a:r>
          </a:p>
        </p:txBody>
      </p:sp>
      <p:sp>
        <p:nvSpPr>
          <p:cNvPr id="2" name="06">
            <a:extLst xmlns:a="http://schemas.openxmlformats.org/drawingml/2006/main">
              <a:ext uri="{FF2B5EF4-FFF2-40B4-BE49-F238E27FC236}">
                <a16:creationId xmlns:a16="http://schemas.microsoft.com/office/drawing/2014/main" id="{1FC24632-4D22-4773-8D04-0BD24466AAC1}"/>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469EBFA2-F5B4-48BD-9358-93D2DE19B341}"/>
              </a:ext>
            </a:extLst>
          </p:cNvPr>
          <p:cNvGraphicFramePr/>
          <p:nvPr/>
        </p:nvGraphicFramePr>
        <p:xfrm>
          <a:off xmlns:a="http://schemas.openxmlformats.org/drawingml/2006/main" x="685800" y="1562100"/>
          <a:ext xmlns:a="http://schemas.openxmlformats.org/drawingml/2006/main" cx="10820400" cy="3333750"/>
        </p:xfrm>
        <a:graphic xmlns:a="http://schemas.openxmlformats.org/drawingml/2006/main">
          <a:graphicData uri="http://schemas.openxmlformats.org/drawingml/2006/table">
            <a:tbl>
              <a:tblPr/>
              <a:tblGrid>
                <a:gridCol w="4000500"/>
                <a:gridCol w="6819900"/>
              </a:tblGrid>
              <a:tr h="555625">
                <a:tc>
                  <a:txBody>
                    <a:bodyPr/>
                    <a:lstStyle/>
                    <a:p>
                      <a:r>
                        <a:rPr sz="1875" b="1">
                          <a:solidFill>
                            <a:srgbClr val="FFFFFF"/>
                          </a:solidFill>
                          <a:latin typeface="Arial"/>
                          <a:ea typeface="Arial"/>
                          <a:cs typeface="Arial"/>
                        </a:rPr>
                        <a:t>Engineered feature</a:t>
                      </a:r>
                    </a:p>
                  </a:txBody>
                  <a:tcPr marL="91440" marR="91440" marT="45720" marB="45720">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1875" b="1">
                          <a:solidFill>
                            <a:srgbClr val="FFFFFF"/>
                          </a:solidFill>
                          <a:latin typeface="Arial"/>
                          <a:ea typeface="Arial"/>
                          <a:cs typeface="Arial"/>
                        </a:rPr>
                        <a:t>Meaning</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r>
              <a:tr h="555625">
                <a:tc>
                  <a:txBody>
                    <a:bodyPr/>
                    <a:lstStyle/>
                    <a:p>
                      <a:r>
                        <a:rPr sz="1875" b="0">
                          <a:solidFill>
                            <a:srgbClr val="243B53"/>
                          </a:solidFill>
                          <a:latin typeface="Arial"/>
                          <a:ea typeface="Arial"/>
                          <a:cs typeface="Arial"/>
                        </a:rPr>
                        <a:t>BalanceSalaryRatio</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Balance divided by salary</a:t>
                      </a:r>
                    </a:p>
                  </a:txBody>
                  <a:tcPr marL="91440" marR="91440" marT="45720" marB="45720">
                    <a:lnR w="9525">
                      <a:solidFill>
                        <a:srgbClr val="D6E1EB"/>
                      </a:solidFill>
                      <a:prstDash val="solid"/>
                    </a:lnR>
                    <a:lnB w="9525">
                      <a:solidFill>
                        <a:srgbClr val="D6E1EB"/>
                      </a:solidFill>
                      <a:prstDash val="solid"/>
                    </a:lnB>
                    <a:solidFill>
                      <a:srgbClr val="FFFFFF"/>
                    </a:solidFill>
                  </a:tcPr>
                </a:tc>
              </a:tr>
              <a:tr h="555625">
                <a:tc>
                  <a:txBody>
                    <a:bodyPr/>
                    <a:lstStyle/>
                    <a:p>
                      <a:r>
                        <a:rPr sz="1875" b="0">
                          <a:solidFill>
                            <a:srgbClr val="243B53"/>
                          </a:solidFill>
                          <a:latin typeface="Arial"/>
                          <a:ea typeface="Arial"/>
                          <a:cs typeface="Arial"/>
                        </a:rPr>
                        <a:t>CreditScoreAgeRatio</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Credit score divided by age</a:t>
                      </a:r>
                    </a:p>
                  </a:txBody>
                  <a:tcPr marL="91440" marR="91440" marT="45720" marB="45720">
                    <a:lnR w="9525">
                      <a:solidFill>
                        <a:srgbClr val="D6E1EB"/>
                      </a:solidFill>
                      <a:prstDash val="solid"/>
                    </a:lnR>
                    <a:lnB w="9525">
                      <a:solidFill>
                        <a:srgbClr val="D6E1EB"/>
                      </a:solidFill>
                      <a:prstDash val="solid"/>
                    </a:lnB>
                    <a:solidFill>
                      <a:srgbClr val="EFF4F8"/>
                    </a:solidFill>
                  </a:tcPr>
                </a:tc>
              </a:tr>
              <a:tr h="555625">
                <a:tc>
                  <a:txBody>
                    <a:bodyPr/>
                    <a:lstStyle/>
                    <a:p>
                      <a:r>
                        <a:rPr sz="1875" b="0">
                          <a:solidFill>
                            <a:srgbClr val="243B53"/>
                          </a:solidFill>
                          <a:latin typeface="Arial"/>
                          <a:ea typeface="Arial"/>
                          <a:cs typeface="Arial"/>
                        </a:rPr>
                        <a:t>BalancePerProduct</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Balance divided by product count</a:t>
                      </a:r>
                    </a:p>
                  </a:txBody>
                  <a:tcPr marL="91440" marR="91440" marT="45720" marB="45720">
                    <a:lnR w="9525">
                      <a:solidFill>
                        <a:srgbClr val="D6E1EB"/>
                      </a:solidFill>
                      <a:prstDash val="solid"/>
                    </a:lnR>
                    <a:lnB w="9525">
                      <a:solidFill>
                        <a:srgbClr val="D6E1EB"/>
                      </a:solidFill>
                      <a:prstDash val="solid"/>
                    </a:lnB>
                    <a:solidFill>
                      <a:srgbClr val="FFFFFF"/>
                    </a:solidFill>
                  </a:tcPr>
                </a:tc>
              </a:tr>
              <a:tr h="555625">
                <a:tc>
                  <a:txBody>
                    <a:bodyPr/>
                    <a:lstStyle/>
                    <a:p>
                      <a:r>
                        <a:rPr sz="1875" b="0">
                          <a:solidFill>
                            <a:srgbClr val="243B53"/>
                          </a:solidFill>
                          <a:latin typeface="Arial"/>
                          <a:ea typeface="Arial"/>
                          <a:cs typeface="Arial"/>
                        </a:rPr>
                        <a:t>TenureByAge</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Tenure divided by age</a:t>
                      </a:r>
                    </a:p>
                  </a:txBody>
                  <a:tcPr marL="91440" marR="91440" marT="45720" marB="45720">
                    <a:lnR w="9525">
                      <a:solidFill>
                        <a:srgbClr val="D6E1EB"/>
                      </a:solidFill>
                      <a:prstDash val="solid"/>
                    </a:lnR>
                    <a:lnB w="9525">
                      <a:solidFill>
                        <a:srgbClr val="D6E1EB"/>
                      </a:solidFill>
                      <a:prstDash val="solid"/>
                    </a:lnB>
                    <a:solidFill>
                      <a:srgbClr val="EFF4F8"/>
                    </a:solidFill>
                  </a:tcPr>
                </a:tc>
              </a:tr>
              <a:tr h="555625">
                <a:tc>
                  <a:txBody>
                    <a:bodyPr/>
                    <a:lstStyle/>
                    <a:p>
                      <a:r>
                        <a:rPr sz="1875" b="0">
                          <a:solidFill>
                            <a:srgbClr val="243B53"/>
                          </a:solidFill>
                          <a:latin typeface="Arial"/>
                          <a:ea typeface="Arial"/>
                          <a:cs typeface="Arial"/>
                        </a:rPr>
                        <a:t>IsHighValueInactive</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Above-median balance and inactive membership</a:t>
                      </a:r>
                    </a:p>
                  </a:txBody>
                  <a:tcPr marL="91440" marR="91440" marT="45720" marB="45720">
                    <a:lnR w="9525">
                      <a:solidFill>
                        <a:srgbClr val="D6E1EB"/>
                      </a:solidFill>
                      <a:prstDash val="solid"/>
                    </a:lnR>
                    <a:lnB w="9525">
                      <a:solidFill>
                        <a:srgbClr val="D6E1EB"/>
                      </a:solidFill>
                      <a:prstDash val="solid"/>
                    </a:lnB>
                    <a:solidFill>
                      <a:srgbClr val="FFFFFF"/>
                    </a:solidFill>
                  </a:tcPr>
                </a:tc>
              </a:tr>
            </a:tbl>
          </a:graphicData>
        </a:graphic>
      </p:graphicFrame>
      <p:sp>
        <p:nvSpPr>
          <p:cNvPr id="4" name="13 scaled numeric features + 5 encoded cat">
            <a:extLst xmlns:a="http://schemas.openxmlformats.org/drawingml/2006/main">
              <a:ext uri="{FF2B5EF4-FFF2-40B4-BE49-F238E27FC236}">
                <a16:creationId xmlns:a16="http://schemas.microsoft.com/office/drawing/2014/main" id="{9B6B064F-C566-434C-9866-F370DC9EA274}"/>
              </a:ext>
            </a:extLst>
          </p:cNvPr>
          <p:cNvSpPr>
            <a:spLocks xmlns:a="http://schemas.openxmlformats.org/drawingml/2006/main" noGrp="1"/>
          </p:cNvSpPr>
          <p:nvPr/>
        </p:nvSpPr>
        <p:spPr>
          <a:xfrm xmlns:a="http://schemas.openxmlformats.org/drawingml/2006/main">
            <a:off x="762000" y="51720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13 scaled numeric features + 5 encoded category values</a:t>
            </a:r>
          </a:p>
        </p:txBody>
      </p:sp>
      <p:sp>
        <p:nvSpPr>
          <p:cNvPr id="5" name="Final input to the network: 18 numbers per">
            <a:extLst xmlns:a="http://schemas.openxmlformats.org/drawingml/2006/main">
              <a:ext uri="{FF2B5EF4-FFF2-40B4-BE49-F238E27FC236}">
                <a16:creationId xmlns:a16="http://schemas.microsoft.com/office/drawing/2014/main" id="{0EEB0332-8D8B-4486-A983-DC2569CD9570}"/>
              </a:ext>
            </a:extLst>
          </p:cNvPr>
          <p:cNvSpPr>
            <a:spLocks xmlns:a="http://schemas.openxmlformats.org/drawingml/2006/main" noGrp="1"/>
          </p:cNvSpPr>
          <p:nvPr/>
        </p:nvSpPr>
        <p:spPr>
          <a:xfrm xmlns:a="http://schemas.openxmlformats.org/drawingml/2006/main">
            <a:off x="685800" y="574357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Final input to the network: 18 numbers per customer.</a:t>
            </a:r>
          </a:p>
        </p:txBody>
      </p:sp>
    </p:spTree>
    <p:extLst>
      <p:ext uri="{BB962C8B-B14F-4D97-AF65-F5344CB8AC3E}">
        <p14:creationId xmlns:p14="http://schemas.microsoft.com/office/powerpoint/2010/main" val="1843741172"/>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Neural network architecture">
            <a:extLst xmlns:a="http://schemas.openxmlformats.org/drawingml/2006/main">
              <a:ext uri="{FF2B5EF4-FFF2-40B4-BE49-F238E27FC236}">
                <a16:creationId xmlns:a16="http://schemas.microsoft.com/office/drawing/2014/main" id="{83F5A5D6-8525-44BA-B80D-7F9BE3F27742}"/>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Neural network architecture</a:t>
            </a:r>
          </a:p>
        </p:txBody>
      </p:sp>
      <p:sp>
        <p:nvSpPr>
          <p:cNvPr id="2" name="07">
            <a:extLst xmlns:a="http://schemas.openxmlformats.org/drawingml/2006/main">
              <a:ext uri="{FF2B5EF4-FFF2-40B4-BE49-F238E27FC236}">
                <a16:creationId xmlns:a16="http://schemas.microsoft.com/office/drawing/2014/main" id="{71B68EA3-D71B-4A3C-9BA6-A4F7C14A287D}"/>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89382EFE-AB6D-4BC5-A6A5-4EF731301F02}"/>
              </a:ext>
            </a:extLst>
          </p:cNvPr>
          <p:cNvGraphicFramePr/>
          <p:nvPr/>
        </p:nvGraphicFramePr>
        <p:xfrm>
          <a:off xmlns:a="http://schemas.openxmlformats.org/drawingml/2006/main" x="685800" y="1562100"/>
          <a:ext xmlns:a="http://schemas.openxmlformats.org/drawingml/2006/main" cx="10820400" cy="4000500"/>
        </p:xfrm>
        <a:graphic xmlns:a="http://schemas.openxmlformats.org/drawingml/2006/main">
          <a:graphicData uri="http://schemas.openxmlformats.org/drawingml/2006/table">
            <a:tbl>
              <a:tblPr/>
              <a:tblGrid>
                <a:gridCol w="3333750"/>
                <a:gridCol w="7486650"/>
              </a:tblGrid>
              <a:tr h="571500">
                <a:tc>
                  <a:txBody>
                    <a:bodyPr/>
                    <a:lstStyle/>
                    <a:p>
                      <a:r>
                        <a:rPr sz="1875" b="1">
                          <a:solidFill>
                            <a:srgbClr val="FFFFFF"/>
                          </a:solidFill>
                          <a:latin typeface="Arial"/>
                          <a:ea typeface="Arial"/>
                          <a:cs typeface="Arial"/>
                        </a:rPr>
                        <a:t>Stage</a:t>
                      </a:r>
                    </a:p>
                  </a:txBody>
                  <a:tcPr marL="91440" marR="91440" marT="45720" marB="45720">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1875" b="1">
                          <a:solidFill>
                            <a:srgbClr val="FFFFFF"/>
                          </a:solidFill>
                          <a:latin typeface="Arial"/>
                          <a:ea typeface="Arial"/>
                          <a:cs typeface="Arial"/>
                        </a:rPr>
                        <a:t>Configuration</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r>
              <a:tr h="571500">
                <a:tc>
                  <a:txBody>
                    <a:bodyPr/>
                    <a:lstStyle/>
                    <a:p>
                      <a:r>
                        <a:rPr sz="1875" b="0">
                          <a:solidFill>
                            <a:srgbClr val="243B53"/>
                          </a:solidFill>
                          <a:latin typeface="Arial"/>
                          <a:ea typeface="Arial"/>
                          <a:cs typeface="Arial"/>
                        </a:rPr>
                        <a:t>Input</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18 numeric values</a:t>
                      </a:r>
                    </a:p>
                  </a:txBody>
                  <a:tcPr marL="91440" marR="91440" marT="45720" marB="45720">
                    <a:lnR w="9525">
                      <a:solidFill>
                        <a:srgbClr val="D6E1EB"/>
                      </a:solidFill>
                      <a:prstDash val="solid"/>
                    </a:lnR>
                    <a:lnB w="9525">
                      <a:solidFill>
                        <a:srgbClr val="D6E1EB"/>
                      </a:solidFill>
                      <a:prstDash val="solid"/>
                    </a:lnB>
                    <a:solidFill>
                      <a:srgbClr val="FFFFFF"/>
                    </a:solidFill>
                  </a:tcPr>
                </a:tc>
              </a:tr>
              <a:tr h="571500">
                <a:tc>
                  <a:txBody>
                    <a:bodyPr/>
                    <a:lstStyle/>
                    <a:p>
                      <a:r>
                        <a:rPr sz="1875" b="0">
                          <a:solidFill>
                            <a:srgbClr val="243B53"/>
                          </a:solidFill>
                          <a:latin typeface="Arial"/>
                          <a:ea typeface="Arial"/>
                          <a:cs typeface="Arial"/>
                        </a:rPr>
                        <a:t>Hidden layer 1</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64 neurons, ReLU, batch normalization</a:t>
                      </a:r>
                    </a:p>
                  </a:txBody>
                  <a:tcPr marL="91440" marR="91440" marT="45720" marB="45720">
                    <a:lnR w="9525">
                      <a:solidFill>
                        <a:srgbClr val="D6E1EB"/>
                      </a:solidFill>
                      <a:prstDash val="solid"/>
                    </a:lnR>
                    <a:lnB w="9525">
                      <a:solidFill>
                        <a:srgbClr val="D6E1EB"/>
                      </a:solidFill>
                      <a:prstDash val="solid"/>
                    </a:lnB>
                    <a:solidFill>
                      <a:srgbClr val="EFF4F8"/>
                    </a:solidFill>
                  </a:tcPr>
                </a:tc>
              </a:tr>
              <a:tr h="571500">
                <a:tc>
                  <a:txBody>
                    <a:bodyPr/>
                    <a:lstStyle/>
                    <a:p>
                      <a:r>
                        <a:rPr sz="1875" b="0">
                          <a:solidFill>
                            <a:srgbClr val="243B53"/>
                          </a:solidFill>
                          <a:latin typeface="Arial"/>
                          <a:ea typeface="Arial"/>
                          <a:cs typeface="Arial"/>
                        </a:rPr>
                        <a:t>Regularization</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Dropout 0.25</a:t>
                      </a:r>
                    </a:p>
                  </a:txBody>
                  <a:tcPr marL="91440" marR="91440" marT="45720" marB="45720">
                    <a:lnR w="9525">
                      <a:solidFill>
                        <a:srgbClr val="D6E1EB"/>
                      </a:solidFill>
                      <a:prstDash val="solid"/>
                    </a:lnR>
                    <a:lnB w="9525">
                      <a:solidFill>
                        <a:srgbClr val="D6E1EB"/>
                      </a:solidFill>
                      <a:prstDash val="solid"/>
                    </a:lnB>
                    <a:solidFill>
                      <a:srgbClr val="FFFFFF"/>
                    </a:solidFill>
                  </a:tcPr>
                </a:tc>
              </a:tr>
              <a:tr h="571500">
                <a:tc>
                  <a:txBody>
                    <a:bodyPr/>
                    <a:lstStyle/>
                    <a:p>
                      <a:r>
                        <a:rPr sz="1875" b="0">
                          <a:solidFill>
                            <a:srgbClr val="243B53"/>
                          </a:solidFill>
                          <a:latin typeface="Arial"/>
                          <a:ea typeface="Arial"/>
                          <a:cs typeface="Arial"/>
                        </a:rPr>
                        <a:t>Hidden layer 2</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32 neurons, ReLU, dropout 0.20</a:t>
                      </a:r>
                    </a:p>
                  </a:txBody>
                  <a:tcPr marL="91440" marR="91440" marT="45720" marB="45720">
                    <a:lnR w="9525">
                      <a:solidFill>
                        <a:srgbClr val="D6E1EB"/>
                      </a:solidFill>
                      <a:prstDash val="solid"/>
                    </a:lnR>
                    <a:lnB w="9525">
                      <a:solidFill>
                        <a:srgbClr val="D6E1EB"/>
                      </a:solidFill>
                      <a:prstDash val="solid"/>
                    </a:lnB>
                    <a:solidFill>
                      <a:srgbClr val="EFF4F8"/>
                    </a:solidFill>
                  </a:tcPr>
                </a:tc>
              </a:tr>
              <a:tr h="571500">
                <a:tc>
                  <a:txBody>
                    <a:bodyPr/>
                    <a:lstStyle/>
                    <a:p>
                      <a:r>
                        <a:rPr sz="1875" b="0">
                          <a:solidFill>
                            <a:srgbClr val="243B53"/>
                          </a:solidFill>
                          <a:latin typeface="Arial"/>
                          <a:ea typeface="Arial"/>
                          <a:cs typeface="Arial"/>
                        </a:rPr>
                        <a:t>Hidden layer 3</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16 neurons, ReLU</a:t>
                      </a:r>
                    </a:p>
                  </a:txBody>
                  <a:tcPr marL="91440" marR="91440" marT="45720" marB="45720">
                    <a:lnR w="9525">
                      <a:solidFill>
                        <a:srgbClr val="D6E1EB"/>
                      </a:solidFill>
                      <a:prstDash val="solid"/>
                    </a:lnR>
                    <a:lnB w="9525">
                      <a:solidFill>
                        <a:srgbClr val="D6E1EB"/>
                      </a:solidFill>
                      <a:prstDash val="solid"/>
                    </a:lnB>
                    <a:solidFill>
                      <a:srgbClr val="FFFFFF"/>
                    </a:solidFill>
                  </a:tcPr>
                </a:tc>
              </a:tr>
              <a:tr h="571500">
                <a:tc>
                  <a:txBody>
                    <a:bodyPr/>
                    <a:lstStyle/>
                    <a:p>
                      <a:r>
                        <a:rPr sz="1875" b="0">
                          <a:solidFill>
                            <a:srgbClr val="243B53"/>
                          </a:solidFill>
                          <a:latin typeface="Arial"/>
                          <a:ea typeface="Arial"/>
                          <a:cs typeface="Arial"/>
                        </a:rPr>
                        <a:t>Output</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1 neuron, sigmoid</a:t>
                      </a:r>
                    </a:p>
                  </a:txBody>
                  <a:tcPr marL="91440" marR="91440" marT="45720" marB="45720">
                    <a:lnR w="9525">
                      <a:solidFill>
                        <a:srgbClr val="D6E1EB"/>
                      </a:solidFill>
                      <a:prstDash val="solid"/>
                    </a:lnR>
                    <a:lnB w="9525">
                      <a:solidFill>
                        <a:srgbClr val="D6E1EB"/>
                      </a:solidFill>
                      <a:prstDash val="solid"/>
                    </a:lnB>
                    <a:solidFill>
                      <a:srgbClr val="EFF4F8"/>
                    </a:solidFill>
                  </a:tcPr>
                </a:tc>
              </a:tr>
            </a:tbl>
          </a:graphicData>
        </a:graphic>
      </p:graphicFrame>
      <p:sp>
        <p:nvSpPr>
          <p:cNvPr id="4" name="4,097 total model parameters.">
            <a:extLst xmlns:a="http://schemas.openxmlformats.org/drawingml/2006/main">
              <a:ext uri="{FF2B5EF4-FFF2-40B4-BE49-F238E27FC236}">
                <a16:creationId xmlns:a16="http://schemas.microsoft.com/office/drawing/2014/main" id="{A7C00895-F506-456C-A665-3A7DFB78F1E9}"/>
              </a:ext>
            </a:extLst>
          </p:cNvPr>
          <p:cNvSpPr>
            <a:spLocks xmlns:a="http://schemas.openxmlformats.org/drawingml/2006/main" noGrp="1"/>
          </p:cNvSpPr>
          <p:nvPr/>
        </p:nvSpPr>
        <p:spPr>
          <a:xfrm xmlns:a="http://schemas.openxmlformats.org/drawingml/2006/main">
            <a:off x="685800" y="57245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4,097 total model parameters.</a:t>
            </a:r>
          </a:p>
        </p:txBody>
      </p:sp>
    </p:spTree>
    <p:extLst>
      <p:ext uri="{BB962C8B-B14F-4D97-AF65-F5344CB8AC3E}">
        <p14:creationId xmlns:p14="http://schemas.microsoft.com/office/powerpoint/2010/main" val="37754152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 name="Training parameters">
            <a:extLst xmlns:a="http://schemas.openxmlformats.org/drawingml/2006/main">
              <a:ext uri="{FF2B5EF4-FFF2-40B4-BE49-F238E27FC236}">
                <a16:creationId xmlns:a16="http://schemas.microsoft.com/office/drawing/2014/main" id="{BF9DD5F6-E3D5-463C-B7D0-E7647DAE6B5C}"/>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Training parameters</a:t>
            </a:r>
          </a:p>
        </p:txBody>
      </p:sp>
      <p:sp>
        <p:nvSpPr>
          <p:cNvPr id="2" name="08">
            <a:extLst xmlns:a="http://schemas.openxmlformats.org/drawingml/2006/main">
              <a:ext uri="{FF2B5EF4-FFF2-40B4-BE49-F238E27FC236}">
                <a16:creationId xmlns:a16="http://schemas.microsoft.com/office/drawing/2014/main" id="{017AD61D-2C9D-4924-83DE-B1BF85571073}"/>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08</a:t>
            </a:r>
          </a:p>
        </p:txBody>
      </p:sp>
      <p:graphicFrame>
        <p:nvGraphicFramePr>
          <p:cNvPr id="3" name="">
            <a:extLst xmlns:a="http://schemas.openxmlformats.org/drawingml/2006/main">
              <a:ext uri="{FF2B5EF4-FFF2-40B4-BE49-F238E27FC236}">
                <a16:creationId xmlns:a16="http://schemas.microsoft.com/office/drawing/2014/main" id="{06ABA64E-8496-4C7D-99F4-366A04848606}"/>
              </a:ext>
            </a:extLst>
          </p:cNvPr>
          <p:cNvGraphicFramePr/>
          <p:nvPr/>
        </p:nvGraphicFramePr>
        <p:xfrm>
          <a:off xmlns:a="http://schemas.openxmlformats.org/drawingml/2006/main" x="685800" y="1562100"/>
          <a:ext xmlns:a="http://schemas.openxmlformats.org/drawingml/2006/main" cx="10820400" cy="4114800"/>
        </p:xfrm>
        <a:graphic xmlns:a="http://schemas.openxmlformats.org/drawingml/2006/main">
          <a:graphicData uri="http://schemas.openxmlformats.org/drawingml/2006/table">
            <a:tbl>
              <a:tblPr/>
              <a:tblGrid>
                <a:gridCol w="3333750"/>
                <a:gridCol w="7486650"/>
              </a:tblGrid>
              <a:tr h="514350">
                <a:tc>
                  <a:txBody>
                    <a:bodyPr/>
                    <a:lstStyle/>
                    <a:p>
                      <a:r>
                        <a:rPr sz="1875" b="1">
                          <a:solidFill>
                            <a:srgbClr val="FFFFFF"/>
                          </a:solidFill>
                          <a:latin typeface="Arial"/>
                          <a:ea typeface="Arial"/>
                          <a:cs typeface="Arial"/>
                        </a:rPr>
                        <a:t>Parameter</a:t>
                      </a:r>
                    </a:p>
                  </a:txBody>
                  <a:tcPr marL="91440" marR="91440" marT="45720" marB="45720">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1875" b="1">
                          <a:solidFill>
                            <a:srgbClr val="FFFFFF"/>
                          </a:solidFill>
                          <a:latin typeface="Arial"/>
                          <a:ea typeface="Arial"/>
                          <a:cs typeface="Arial"/>
                        </a:rPr>
                        <a:t>Value</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r>
              <a:tr h="514350">
                <a:tc>
                  <a:txBody>
                    <a:bodyPr/>
                    <a:lstStyle/>
                    <a:p>
                      <a:r>
                        <a:rPr sz="1875" b="0">
                          <a:solidFill>
                            <a:srgbClr val="243B53"/>
                          </a:solidFill>
                          <a:latin typeface="Arial"/>
                          <a:ea typeface="Arial"/>
                          <a:cs typeface="Arial"/>
                        </a:rPr>
                        <a:t>Optimizer</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Adam</a:t>
                      </a:r>
                    </a:p>
                  </a:txBody>
                  <a:tcPr marL="91440" marR="91440" marT="45720" marB="45720">
                    <a:lnR w="9525">
                      <a:solidFill>
                        <a:srgbClr val="D6E1EB"/>
                      </a:solidFill>
                      <a:prstDash val="solid"/>
                    </a:lnR>
                    <a:lnB w="9525">
                      <a:solidFill>
                        <a:srgbClr val="D6E1EB"/>
                      </a:solidFill>
                      <a:prstDash val="solid"/>
                    </a:lnB>
                    <a:solidFill>
                      <a:srgbClr val="FFFFFF"/>
                    </a:solidFill>
                  </a:tcPr>
                </a:tc>
              </a:tr>
              <a:tr h="514350">
                <a:tc>
                  <a:txBody>
                    <a:bodyPr/>
                    <a:lstStyle/>
                    <a:p>
                      <a:r>
                        <a:rPr sz="1875" b="0">
                          <a:solidFill>
                            <a:srgbClr val="243B53"/>
                          </a:solidFill>
                          <a:latin typeface="Arial"/>
                          <a:ea typeface="Arial"/>
                          <a:cs typeface="Arial"/>
                        </a:rPr>
                        <a:t>Learning rate</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0.001</a:t>
                      </a:r>
                    </a:p>
                  </a:txBody>
                  <a:tcPr marL="91440" marR="91440" marT="45720" marB="45720">
                    <a:lnR w="9525">
                      <a:solidFill>
                        <a:srgbClr val="D6E1EB"/>
                      </a:solidFill>
                      <a:prstDash val="solid"/>
                    </a:lnR>
                    <a:lnB w="9525">
                      <a:solidFill>
                        <a:srgbClr val="D6E1EB"/>
                      </a:solidFill>
                      <a:prstDash val="solid"/>
                    </a:lnB>
                    <a:solidFill>
                      <a:srgbClr val="EFF4F8"/>
                    </a:solidFill>
                  </a:tcPr>
                </a:tc>
              </a:tr>
              <a:tr h="514350">
                <a:tc>
                  <a:txBody>
                    <a:bodyPr/>
                    <a:lstStyle/>
                    <a:p>
                      <a:r>
                        <a:rPr sz="1875" b="0">
                          <a:solidFill>
                            <a:srgbClr val="243B53"/>
                          </a:solidFill>
                          <a:latin typeface="Arial"/>
                          <a:ea typeface="Arial"/>
                          <a:cs typeface="Arial"/>
                        </a:rPr>
                        <a:t>Loss</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Binary cross-entropy</a:t>
                      </a:r>
                    </a:p>
                  </a:txBody>
                  <a:tcPr marL="91440" marR="91440" marT="45720" marB="45720">
                    <a:lnR w="9525">
                      <a:solidFill>
                        <a:srgbClr val="D6E1EB"/>
                      </a:solidFill>
                      <a:prstDash val="solid"/>
                    </a:lnR>
                    <a:lnB w="9525">
                      <a:solidFill>
                        <a:srgbClr val="D6E1EB"/>
                      </a:solidFill>
                      <a:prstDash val="solid"/>
                    </a:lnB>
                    <a:solidFill>
                      <a:srgbClr val="FFFFFF"/>
                    </a:solidFill>
                  </a:tcPr>
                </a:tc>
              </a:tr>
              <a:tr h="514350">
                <a:tc>
                  <a:txBody>
                    <a:bodyPr/>
                    <a:lstStyle/>
                    <a:p>
                      <a:r>
                        <a:rPr sz="1875" b="0">
                          <a:solidFill>
                            <a:srgbClr val="243B53"/>
                          </a:solidFill>
                          <a:latin typeface="Arial"/>
                          <a:ea typeface="Arial"/>
                          <a:cs typeface="Arial"/>
                        </a:rPr>
                        <a:t>Batch size</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64</a:t>
                      </a:r>
                    </a:p>
                  </a:txBody>
                  <a:tcPr marL="91440" marR="91440" marT="45720" marB="45720">
                    <a:lnR w="9525">
                      <a:solidFill>
                        <a:srgbClr val="D6E1EB"/>
                      </a:solidFill>
                      <a:prstDash val="solid"/>
                    </a:lnR>
                    <a:lnB w="9525">
                      <a:solidFill>
                        <a:srgbClr val="D6E1EB"/>
                      </a:solidFill>
                      <a:prstDash val="solid"/>
                    </a:lnB>
                    <a:solidFill>
                      <a:srgbClr val="EFF4F8"/>
                    </a:solidFill>
                  </a:tcPr>
                </a:tc>
              </a:tr>
              <a:tr h="514350">
                <a:tc>
                  <a:txBody>
                    <a:bodyPr/>
                    <a:lstStyle/>
                    <a:p>
                      <a:r>
                        <a:rPr sz="1875" b="0">
                          <a:solidFill>
                            <a:srgbClr val="243B53"/>
                          </a:solidFill>
                          <a:latin typeface="Arial"/>
                          <a:ea typeface="Arial"/>
                          <a:cs typeface="Arial"/>
                        </a:rPr>
                        <a:t>Maximum epochs</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45</a:t>
                      </a:r>
                    </a:p>
                  </a:txBody>
                  <a:tcPr marL="91440" marR="91440" marT="45720" marB="45720">
                    <a:lnR w="9525">
                      <a:solidFill>
                        <a:srgbClr val="D6E1EB"/>
                      </a:solidFill>
                      <a:prstDash val="solid"/>
                    </a:lnR>
                    <a:lnB w="9525">
                      <a:solidFill>
                        <a:srgbClr val="D6E1EB"/>
                      </a:solidFill>
                      <a:prstDash val="solid"/>
                    </a:lnB>
                    <a:solidFill>
                      <a:srgbClr val="FFFFFF"/>
                    </a:solidFill>
                  </a:tcPr>
                </a:tc>
              </a:tr>
              <a:tr h="514350">
                <a:tc>
                  <a:txBody>
                    <a:bodyPr/>
                    <a:lstStyle/>
                    <a:p>
                      <a:r>
                        <a:rPr sz="1875" b="0">
                          <a:solidFill>
                            <a:srgbClr val="243B53"/>
                          </a:solidFill>
                          <a:latin typeface="Arial"/>
                          <a:ea typeface="Arial"/>
                          <a:cs typeface="Arial"/>
                        </a:rPr>
                        <a:t>Actual epochs in included run</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875" b="0">
                          <a:solidFill>
                            <a:srgbClr val="243B53"/>
                          </a:solidFill>
                          <a:latin typeface="Arial"/>
                          <a:ea typeface="Arial"/>
                          <a:cs typeface="Arial"/>
                        </a:rPr>
                        <a:t>32</a:t>
                      </a:r>
                    </a:p>
                  </a:txBody>
                  <a:tcPr marL="91440" marR="91440" marT="45720" marB="45720">
                    <a:lnR w="9525">
                      <a:solidFill>
                        <a:srgbClr val="D6E1EB"/>
                      </a:solidFill>
                      <a:prstDash val="solid"/>
                    </a:lnR>
                    <a:lnB w="9525">
                      <a:solidFill>
                        <a:srgbClr val="D6E1EB"/>
                      </a:solidFill>
                      <a:prstDash val="solid"/>
                    </a:lnB>
                    <a:solidFill>
                      <a:srgbClr val="EFF4F8"/>
                    </a:solidFill>
                  </a:tcPr>
                </a:tc>
              </a:tr>
              <a:tr h="514350">
                <a:tc>
                  <a:txBody>
                    <a:bodyPr/>
                    <a:lstStyle/>
                    <a:p>
                      <a:r>
                        <a:rPr sz="1875" b="0">
                          <a:solidFill>
                            <a:srgbClr val="243B53"/>
                          </a:solidFill>
                          <a:latin typeface="Arial"/>
                          <a:ea typeface="Arial"/>
                          <a:cs typeface="Arial"/>
                        </a:rPr>
                        <a:t>Class imbalance handling</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875" b="0">
                          <a:solidFill>
                            <a:srgbClr val="243B53"/>
                          </a:solidFill>
                          <a:latin typeface="Arial"/>
                          <a:ea typeface="Arial"/>
                          <a:cs typeface="Arial"/>
                        </a:rPr>
                        <a:t>Balanced class weights</a:t>
                      </a:r>
                    </a:p>
                  </a:txBody>
                  <a:tcPr marL="91440" marR="91440" marT="45720" marB="45720">
                    <a:lnR w="9525">
                      <a:solidFill>
                        <a:srgbClr val="D6E1EB"/>
                      </a:solidFill>
                      <a:prstDash val="solid"/>
                    </a:lnR>
                    <a:lnB w="9525">
                      <a:solidFill>
                        <a:srgbClr val="D6E1EB"/>
                      </a:solidFill>
                      <a:prstDash val="solid"/>
                    </a:lnB>
                    <a:solidFill>
                      <a:srgbClr val="FFFFFF"/>
                    </a:solidFill>
                  </a:tcPr>
                </a:tc>
              </a:tr>
            </a:tbl>
          </a:graphicData>
        </a:graphic>
      </p:graphicFrame>
    </p:spTree>
    <p:extLst>
      <p:ext uri="{BB962C8B-B14F-4D97-AF65-F5344CB8AC3E}">
        <p14:creationId xmlns:p14="http://schemas.microsoft.com/office/powerpoint/2010/main" val="245269483"/>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Data split and early stopping">
            <a:extLst xmlns:a="http://schemas.openxmlformats.org/drawingml/2006/main">
              <a:ext uri="{FF2B5EF4-FFF2-40B4-BE49-F238E27FC236}">
                <a16:creationId xmlns:a16="http://schemas.microsoft.com/office/drawing/2014/main" id="{E2211BF3-EFD5-462A-8103-A59CE1D6485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Data split and early stopping</a:t>
            </a:r>
          </a:p>
        </p:txBody>
      </p:sp>
      <p:sp>
        <p:nvSpPr>
          <p:cNvPr id="2" name="09">
            <a:extLst xmlns:a="http://schemas.openxmlformats.org/drawingml/2006/main">
              <a:ext uri="{FF2B5EF4-FFF2-40B4-BE49-F238E27FC236}">
                <a16:creationId xmlns:a16="http://schemas.microsoft.com/office/drawing/2014/main" id="{2335BAC5-8DBC-43A6-BA30-CAC8BA640780}"/>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FEBDCEAB-5B49-4551-918E-270042D5B2B7}"/>
              </a:ext>
            </a:extLst>
          </p:cNvPr>
          <p:cNvGraphicFramePr/>
          <p:nvPr/>
        </p:nvGraphicFramePr>
        <p:xfrm>
          <a:off xmlns:a="http://schemas.openxmlformats.org/drawingml/2006/main" x="685800" y="1562100"/>
          <a:ext xmlns:a="http://schemas.openxmlformats.org/drawingml/2006/main" cx="10820400" cy="2590800"/>
        </p:xfrm>
        <a:graphic xmlns:a="http://schemas.openxmlformats.org/drawingml/2006/main">
          <a:graphicData uri="http://schemas.openxmlformats.org/drawingml/2006/table">
            <a:tbl>
              <a:tblPr/>
              <a:tblGrid>
                <a:gridCol w="2476500"/>
                <a:gridCol w="2381250"/>
                <a:gridCol w="5962650"/>
              </a:tblGrid>
              <a:tr h="647700">
                <a:tc>
                  <a:txBody>
                    <a:bodyPr/>
                    <a:lstStyle/>
                    <a:p>
                      <a:r>
                        <a:rPr sz="2025" b="1">
                          <a:solidFill>
                            <a:srgbClr val="FFFFFF"/>
                          </a:solidFill>
                          <a:latin typeface="Arial"/>
                          <a:ea typeface="Arial"/>
                          <a:cs typeface="Arial"/>
                        </a:rPr>
                        <a:t>Subset</a:t>
                      </a:r>
                    </a:p>
                  </a:txBody>
                  <a:tcPr marL="91440" marR="91440" marT="45720" marB="45720">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2025" b="1">
                          <a:solidFill>
                            <a:srgbClr val="FFFFFF"/>
                          </a:solidFill>
                          <a:latin typeface="Arial"/>
                          <a:ea typeface="Arial"/>
                          <a:cs typeface="Arial"/>
                        </a:rPr>
                        <a:t>Customers</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2025" b="1">
                          <a:solidFill>
                            <a:srgbClr val="FFFFFF"/>
                          </a:solidFill>
                          <a:latin typeface="Arial"/>
                          <a:ea typeface="Arial"/>
                          <a:cs typeface="Arial"/>
                        </a:rPr>
                        <a:t>Purpose</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r>
              <a:tr h="647700">
                <a:tc>
                  <a:txBody>
                    <a:bodyPr/>
                    <a:lstStyle/>
                    <a:p>
                      <a:r>
                        <a:rPr sz="2025" b="0">
                          <a:solidFill>
                            <a:srgbClr val="243B53"/>
                          </a:solidFill>
                          <a:latin typeface="Arial"/>
                          <a:ea typeface="Arial"/>
                          <a:cs typeface="Arial"/>
                        </a:rPr>
                        <a:t>Training</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2025" b="0">
                          <a:solidFill>
                            <a:srgbClr val="243B53"/>
                          </a:solidFill>
                          <a:latin typeface="Arial"/>
                          <a:ea typeface="Arial"/>
                          <a:cs typeface="Arial"/>
                        </a:rPr>
                        <a:t>6,800</a:t>
                      </a:r>
                    </a:p>
                  </a:txBody>
                  <a:tcPr marL="91440" marR="91440" marT="45720" marB="45720">
                    <a:lnR w="9525">
                      <a:solidFill>
                        <a:srgbClr val="D6E1EB"/>
                      </a:solidFill>
                      <a:prstDash val="solid"/>
                    </a:lnR>
                    <a:lnB w="9525">
                      <a:solidFill>
                        <a:srgbClr val="D6E1EB"/>
                      </a:solidFill>
                      <a:prstDash val="solid"/>
                    </a:lnB>
                    <a:solidFill>
                      <a:srgbClr val="FFFFFF"/>
                    </a:solidFill>
                  </a:tcPr>
                </a:tc>
                <a:tc>
                  <a:txBody>
                    <a:bodyPr/>
                    <a:lstStyle/>
                    <a:p>
                      <a:r>
                        <a:rPr sz="2025" b="0">
                          <a:solidFill>
                            <a:srgbClr val="243B53"/>
                          </a:solidFill>
                          <a:latin typeface="Arial"/>
                          <a:ea typeface="Arial"/>
                          <a:cs typeface="Arial"/>
                        </a:rPr>
                        <a:t>Update network weights</a:t>
                      </a:r>
                    </a:p>
                  </a:txBody>
                  <a:tcPr marL="91440" marR="91440" marT="45720" marB="45720">
                    <a:lnR w="9525">
                      <a:solidFill>
                        <a:srgbClr val="D6E1EB"/>
                      </a:solidFill>
                      <a:prstDash val="solid"/>
                    </a:lnR>
                    <a:lnB w="9525">
                      <a:solidFill>
                        <a:srgbClr val="D6E1EB"/>
                      </a:solidFill>
                      <a:prstDash val="solid"/>
                    </a:lnB>
                    <a:solidFill>
                      <a:srgbClr val="FFFFFF"/>
                    </a:solidFill>
                  </a:tcPr>
                </a:tc>
              </a:tr>
              <a:tr h="647700">
                <a:tc>
                  <a:txBody>
                    <a:bodyPr/>
                    <a:lstStyle/>
                    <a:p>
                      <a:r>
                        <a:rPr sz="2025" b="0">
                          <a:solidFill>
                            <a:srgbClr val="243B53"/>
                          </a:solidFill>
                          <a:latin typeface="Arial"/>
                          <a:ea typeface="Arial"/>
                          <a:cs typeface="Arial"/>
                        </a:rPr>
                        <a:t>Validation</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2025" b="0">
                          <a:solidFill>
                            <a:srgbClr val="243B53"/>
                          </a:solidFill>
                          <a:latin typeface="Arial"/>
                          <a:ea typeface="Arial"/>
                          <a:cs typeface="Arial"/>
                        </a:rPr>
                        <a:t>1,200</a:t>
                      </a:r>
                    </a:p>
                  </a:txBody>
                  <a:tcPr marL="91440" marR="91440" marT="45720" marB="45720">
                    <a:lnR w="9525">
                      <a:solidFill>
                        <a:srgbClr val="D6E1EB"/>
                      </a:solidFill>
                      <a:prstDash val="solid"/>
                    </a:lnR>
                    <a:lnB w="9525">
                      <a:solidFill>
                        <a:srgbClr val="D6E1EB"/>
                      </a:solidFill>
                      <a:prstDash val="solid"/>
                    </a:lnB>
                    <a:solidFill>
                      <a:srgbClr val="EFF4F8"/>
                    </a:solidFill>
                  </a:tcPr>
                </a:tc>
                <a:tc>
                  <a:txBody>
                    <a:bodyPr/>
                    <a:lstStyle/>
                    <a:p>
                      <a:r>
                        <a:rPr sz="2025" b="0">
                          <a:solidFill>
                            <a:srgbClr val="243B53"/>
                          </a:solidFill>
                          <a:latin typeface="Arial"/>
                          <a:ea typeface="Arial"/>
                          <a:cs typeface="Arial"/>
                        </a:rPr>
                        <a:t>Choose when to stop</a:t>
                      </a:r>
                    </a:p>
                  </a:txBody>
                  <a:tcPr marL="91440" marR="91440" marT="45720" marB="45720">
                    <a:lnR w="9525">
                      <a:solidFill>
                        <a:srgbClr val="D6E1EB"/>
                      </a:solidFill>
                      <a:prstDash val="solid"/>
                    </a:lnR>
                    <a:lnB w="9525">
                      <a:solidFill>
                        <a:srgbClr val="D6E1EB"/>
                      </a:solidFill>
                      <a:prstDash val="solid"/>
                    </a:lnB>
                    <a:solidFill>
                      <a:srgbClr val="EFF4F8"/>
                    </a:solidFill>
                  </a:tcPr>
                </a:tc>
              </a:tr>
              <a:tr h="647700">
                <a:tc>
                  <a:txBody>
                    <a:bodyPr/>
                    <a:lstStyle/>
                    <a:p>
                      <a:r>
                        <a:rPr sz="2025" b="0">
                          <a:solidFill>
                            <a:srgbClr val="243B53"/>
                          </a:solidFill>
                          <a:latin typeface="Arial"/>
                          <a:ea typeface="Arial"/>
                          <a:cs typeface="Arial"/>
                        </a:rPr>
                        <a:t>Test</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2025" b="0">
                          <a:solidFill>
                            <a:srgbClr val="243B53"/>
                          </a:solidFill>
                          <a:latin typeface="Arial"/>
                          <a:ea typeface="Arial"/>
                          <a:cs typeface="Arial"/>
                        </a:rPr>
                        <a:t>2,000</a:t>
                      </a:r>
                    </a:p>
                  </a:txBody>
                  <a:tcPr marL="91440" marR="91440" marT="45720" marB="45720">
                    <a:lnR w="9525">
                      <a:solidFill>
                        <a:srgbClr val="D6E1EB"/>
                      </a:solidFill>
                      <a:prstDash val="solid"/>
                    </a:lnR>
                    <a:lnB w="9525">
                      <a:solidFill>
                        <a:srgbClr val="D6E1EB"/>
                      </a:solidFill>
                      <a:prstDash val="solid"/>
                    </a:lnB>
                    <a:solidFill>
                      <a:srgbClr val="FFFFFF"/>
                    </a:solidFill>
                  </a:tcPr>
                </a:tc>
                <a:tc>
                  <a:txBody>
                    <a:bodyPr/>
                    <a:lstStyle/>
                    <a:p>
                      <a:r>
                        <a:rPr sz="2025" b="0">
                          <a:solidFill>
                            <a:srgbClr val="243B53"/>
                          </a:solidFill>
                          <a:latin typeface="Arial"/>
                          <a:ea typeface="Arial"/>
                          <a:cs typeface="Arial"/>
                        </a:rPr>
                        <a:t>Evaluate the saved model</a:t>
                      </a:r>
                    </a:p>
                  </a:txBody>
                  <a:tcPr marL="91440" marR="91440" marT="45720" marB="45720">
                    <a:lnR w="9525">
                      <a:solidFill>
                        <a:srgbClr val="D6E1EB"/>
                      </a:solidFill>
                      <a:prstDash val="solid"/>
                    </a:lnR>
                    <a:lnB w="9525">
                      <a:solidFill>
                        <a:srgbClr val="D6E1EB"/>
                      </a:solidFill>
                      <a:prstDash val="solid"/>
                    </a:lnB>
                    <a:solidFill>
                      <a:srgbClr val="FFFFFF"/>
                    </a:solidFill>
                  </a:tcPr>
                </a:tc>
              </a:tr>
            </a:tbl>
          </a:graphicData>
        </a:graphic>
      </p:graphicFrame>
      <p:sp>
        <p:nvSpPr>
          <p:cNvPr id="4" name="Stratified test split with random state 42">
            <a:extLst xmlns:a="http://schemas.openxmlformats.org/drawingml/2006/main">
              <a:ext uri="{FF2B5EF4-FFF2-40B4-BE49-F238E27FC236}">
                <a16:creationId xmlns:a16="http://schemas.microsoft.com/office/drawing/2014/main" id="{7E4CDC0A-17C0-495D-A721-D05A57A7C5FE}"/>
              </a:ext>
            </a:extLst>
          </p:cNvPr>
          <p:cNvSpPr>
            <a:spLocks xmlns:a="http://schemas.openxmlformats.org/drawingml/2006/main" noGrp="1"/>
          </p:cNvSpPr>
          <p:nvPr/>
        </p:nvSpPr>
        <p:spPr>
          <a:xfrm xmlns:a="http://schemas.openxmlformats.org/drawingml/2006/main">
            <a:off x="762000" y="44767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Stratified test split with random state 42</a:t>
            </a:r>
          </a:p>
        </p:txBody>
      </p:sp>
      <p:sp>
        <p:nvSpPr>
          <p:cNvPr id="5" name="Stop after 8 epochs without better validat">
            <a:extLst xmlns:a="http://schemas.openxmlformats.org/drawingml/2006/main">
              <a:ext uri="{FF2B5EF4-FFF2-40B4-BE49-F238E27FC236}">
                <a16:creationId xmlns:a16="http://schemas.microsoft.com/office/drawing/2014/main" id="{4BDC84BD-04F3-49FB-BFE3-7F8AB788BFB2}"/>
              </a:ext>
            </a:extLst>
          </p:cNvPr>
          <p:cNvSpPr>
            <a:spLocks xmlns:a="http://schemas.openxmlformats.org/drawingml/2006/main" noGrp="1"/>
          </p:cNvSpPr>
          <p:nvPr/>
        </p:nvSpPr>
        <p:spPr>
          <a:xfrm xmlns:a="http://schemas.openxmlformats.org/drawingml/2006/main">
            <a:off x="762000" y="51435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53"/>
                </a:solidFill>
                <a:latin typeface="Arial"/>
                <a:ea typeface="Arial"/>
                <a:cs typeface="Arial"/>
              </a:defRPr>
            </a:defPPr>
            <a:lvl1pPr>
              <a:defRPr sz="2100" b="0">
                <a:solidFill>
                  <a:srgbClr val="243B53"/>
                </a:solidFill>
                <a:latin typeface="Arial"/>
                <a:ea typeface="Arial"/>
                <a:cs typeface="Arial"/>
              </a:defRPr>
            </a:lvl1pPr>
            <a:lvl2pPr>
              <a:defRPr sz="2100" b="0">
                <a:solidFill>
                  <a:srgbClr val="243B53"/>
                </a:solidFill>
                <a:latin typeface="Arial"/>
                <a:ea typeface="Arial"/>
                <a:cs typeface="Arial"/>
              </a:defRPr>
            </a:lvl2pPr>
            <a:lvl3pPr>
              <a:defRPr sz="2100" b="0">
                <a:solidFill>
                  <a:srgbClr val="243B53"/>
                </a:solidFill>
                <a:latin typeface="Arial"/>
                <a:ea typeface="Arial"/>
                <a:cs typeface="Arial"/>
              </a:defRPr>
            </a:lvl3pPr>
            <a:lvl4pPr>
              <a:defRPr sz="2100" b="0">
                <a:solidFill>
                  <a:srgbClr val="243B53"/>
                </a:solidFill>
                <a:latin typeface="Arial"/>
                <a:ea typeface="Arial"/>
                <a:cs typeface="Arial"/>
              </a:defRPr>
            </a:lvl4pPr>
            <a:lvl5pPr>
              <a:defRPr sz="2100" b="0">
                <a:solidFill>
                  <a:srgbClr val="243B53"/>
                </a:solidFill>
                <a:latin typeface="Arial"/>
                <a:ea typeface="Arial"/>
                <a:cs typeface="Arial"/>
              </a:defRPr>
            </a:lvl5pPr>
            <a:lvl6pPr>
              <a:defRPr sz="2100" b="0">
                <a:solidFill>
                  <a:srgbClr val="243B53"/>
                </a:solidFill>
                <a:latin typeface="Arial"/>
                <a:ea typeface="Arial"/>
                <a:cs typeface="Arial"/>
              </a:defRPr>
            </a:lvl6pPr>
            <a:lvl7pPr>
              <a:defRPr sz="2100" b="0">
                <a:solidFill>
                  <a:srgbClr val="243B53"/>
                </a:solidFill>
                <a:latin typeface="Arial"/>
                <a:ea typeface="Arial"/>
                <a:cs typeface="Arial"/>
              </a:defRPr>
            </a:lvl7pPr>
            <a:lvl8pPr>
              <a:defRPr sz="2100" b="0">
                <a:solidFill>
                  <a:srgbClr val="243B53"/>
                </a:solidFill>
                <a:latin typeface="Arial"/>
                <a:ea typeface="Arial"/>
                <a:cs typeface="Arial"/>
              </a:defRPr>
            </a:lvl8pPr>
            <a:lvl9pPr>
              <a:defRPr sz="2100" b="0">
                <a:solidFill>
                  <a:srgbClr val="243B53"/>
                </a:solidFill>
                <a:latin typeface="Arial"/>
                <a:ea typeface="Arial"/>
                <a:cs typeface="Arial"/>
              </a:defRPr>
            </a:lvl9pPr>
          </a:lstStyle>
          <a:p xmlns:a="http://schemas.openxmlformats.org/drawingml/2006/main">
            <a:pPr>
              <a:defRPr sz="2100" b="0">
                <a:solidFill>
                  <a:srgbClr val="243B53"/>
                </a:solidFill>
                <a:latin typeface="Arial"/>
                <a:ea typeface="Arial"/>
                <a:cs typeface="Arial"/>
              </a:defRPr>
            </a:pPr>
            <a:r>
              <a:rPr sz="2100" b="0">
                <a:solidFill>
                  <a:srgbClr val="243B53"/>
                </a:solidFill>
                <a:latin typeface="Arial"/>
                <a:ea typeface="Arial"/>
                <a:cs typeface="Arial"/>
              </a:rPr>
              <a:t>Stop after 8 epochs without better validation AUC.</a:t>
            </a:r>
          </a:p>
          <a:p xmlns:a="http://schemas.openxmlformats.org/drawingml/2006/main">
            <a:pPr>
              <a:defRPr sz="2100" b="0">
                <a:solidFill>
                  <a:srgbClr val="243B53"/>
                </a:solidFill>
                <a:latin typeface="Arial"/>
                <a:ea typeface="Arial"/>
                <a:cs typeface="Arial"/>
              </a:defRPr>
            </a:pPr>
            <a:r>
              <a:rPr sz="2100" b="0">
                <a:solidFill>
                  <a:srgbClr val="243B53"/>
                </a:solidFill>
                <a:latin typeface="Arial"/>
                <a:ea typeface="Arial"/>
                <a:cs typeface="Arial"/>
              </a:rPr>
              <a:t>Restore the weights with the best validation AUC.</a:t>
            </a:r>
          </a:p>
        </p:txBody>
      </p:sp>
    </p:spTree>
    <p:extLst>
      <p:ext uri="{BB962C8B-B14F-4D97-AF65-F5344CB8AC3E}">
        <p14:creationId xmlns:p14="http://schemas.microsoft.com/office/powerpoint/2010/main" val="266713647"/>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Learning over 32 epochs">
            <a:extLst xmlns:a="http://schemas.openxmlformats.org/drawingml/2006/main">
              <a:ext uri="{FF2B5EF4-FFF2-40B4-BE49-F238E27FC236}">
                <a16:creationId xmlns:a16="http://schemas.microsoft.com/office/drawing/2014/main" id="{79D3271C-309E-45AA-AF0F-2757301A740F}"/>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Learning over 32 epochs</a:t>
            </a:r>
          </a:p>
        </p:txBody>
      </p:sp>
      <p:sp>
        <p:nvSpPr>
          <p:cNvPr id="2" name="10">
            <a:extLst xmlns:a="http://schemas.openxmlformats.org/drawingml/2006/main">
              <a:ext uri="{FF2B5EF4-FFF2-40B4-BE49-F238E27FC236}">
                <a16:creationId xmlns:a16="http://schemas.microsoft.com/office/drawing/2014/main" id="{752CFA88-9D44-467C-884A-CD4811AF0E49}"/>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7E2E7412-D920-4404-B805-FCBEE617556C}"/>
              </a:ext>
            </a:extLst>
          </p:cNvPr>
          <p:cNvGraphicFramePr/>
          <p:nvPr/>
        </p:nvGraphicFramePr>
        <p:xfrm>
          <a:off xmlns:a="http://schemas.openxmlformats.org/drawingml/2006/main" x="685800" y="1476375"/>
          <a:ext xmlns:a="http://schemas.openxmlformats.org/drawingml/2006/main" cx="10820400" cy="4048125"/>
        </p:xfrm>
        <a:graphic xmlns:a="http://schemas.openxmlformats.org/drawingml/2006/main">
          <a:graphicData uri="http://schemas.openxmlformats.org/drawingml/2006/chart">
            <c:chart xmlns:r="http://schemas.openxmlformats.org/officeDocument/2006/relationships" xmlns:c="http://schemas.openxmlformats.org/drawingml/2006/chart" r:id="Rc33b34145dc64391"/>
          </a:graphicData>
        </a:graphic>
      </p:graphicFrame>
      <p:sp>
        <p:nvSpPr>
          <p:cNvPr id="4" name="Early stopping selects the best validation">
            <a:extLst xmlns:a="http://schemas.openxmlformats.org/drawingml/2006/main">
              <a:ext uri="{FF2B5EF4-FFF2-40B4-BE49-F238E27FC236}">
                <a16:creationId xmlns:a16="http://schemas.microsoft.com/office/drawing/2014/main" id="{1AA3EE3B-A5D0-4C8D-A22C-688F22E331B0}"/>
              </a:ext>
            </a:extLst>
          </p:cNvPr>
          <p:cNvSpPr>
            <a:spLocks xmlns:a="http://schemas.openxmlformats.org/drawingml/2006/main" noGrp="1"/>
          </p:cNvSpPr>
          <p:nvPr/>
        </p:nvSpPr>
        <p:spPr>
          <a:xfrm xmlns:a="http://schemas.openxmlformats.org/drawingml/2006/main">
            <a:off x="685800" y="57245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Early stopping selects the best validation-AUC weights.</a:t>
            </a:r>
          </a:p>
        </p:txBody>
      </p:sp>
    </p:spTree>
    <p:extLst>
      <p:ext uri="{BB962C8B-B14F-4D97-AF65-F5344CB8AC3E}">
        <p14:creationId xmlns:p14="http://schemas.microsoft.com/office/powerpoint/2010/main" val="1654012615"/>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Verified test performance">
            <a:extLst xmlns:a="http://schemas.openxmlformats.org/drawingml/2006/main">
              <a:ext uri="{FF2B5EF4-FFF2-40B4-BE49-F238E27FC236}">
                <a16:creationId xmlns:a16="http://schemas.microsoft.com/office/drawing/2014/main" id="{809F6838-1361-4C8C-A1B3-BC84E7EE5C0A}"/>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Verified test performance</a:t>
            </a:r>
          </a:p>
        </p:txBody>
      </p:sp>
      <p:sp>
        <p:nvSpPr>
          <p:cNvPr id="2" name="11">
            <a:extLst xmlns:a="http://schemas.openxmlformats.org/drawingml/2006/main">
              <a:ext uri="{FF2B5EF4-FFF2-40B4-BE49-F238E27FC236}">
                <a16:creationId xmlns:a16="http://schemas.microsoft.com/office/drawing/2014/main" id="{0ACB493A-10A4-4B18-8A0A-4C8BB23A7AAA}"/>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11</a:t>
            </a:r>
          </a:p>
        </p:txBody>
      </p:sp>
      <p:graphicFrame>
        <p:nvGraphicFramePr>
          <p:cNvPr id="3" name="Chart">
            <a:extLst xmlns:a="http://schemas.openxmlformats.org/drawingml/2006/main">
              <a:ext uri="{FF2B5EF4-FFF2-40B4-BE49-F238E27FC236}">
                <a16:creationId xmlns:a16="http://schemas.microsoft.com/office/drawing/2014/main" id="{28927D07-8852-4329-A498-CCF9BEC8E5E5}"/>
              </a:ext>
            </a:extLst>
          </p:cNvPr>
          <p:cNvGraphicFramePr/>
          <p:nvPr/>
        </p:nvGraphicFramePr>
        <p:xfrm>
          <a:off xmlns:a="http://schemas.openxmlformats.org/drawingml/2006/main" x="685800" y="1571625"/>
          <a:ext xmlns:a="http://schemas.openxmlformats.org/drawingml/2006/main" cx="7524750" cy="3905250"/>
        </p:xfrm>
        <a:graphic xmlns:a="http://schemas.openxmlformats.org/drawingml/2006/main">
          <a:graphicData uri="http://schemas.openxmlformats.org/drawingml/2006/chart">
            <c:chart xmlns:r="http://schemas.openxmlformats.org/officeDocument/2006/relationships" xmlns:c="http://schemas.openxmlformats.org/drawingml/2006/chart" r:id="R1847d2659eed4879"/>
          </a:graphicData>
        </a:graphic>
      </p:graphicFrame>
      <p:sp>
        <p:nvSpPr>
          <p:cNvPr id="4" name="0.859">
            <a:extLst xmlns:a="http://schemas.openxmlformats.org/drawingml/2006/main">
              <a:ext uri="{FF2B5EF4-FFF2-40B4-BE49-F238E27FC236}">
                <a16:creationId xmlns:a16="http://schemas.microsoft.com/office/drawing/2014/main" id="{2613613B-983A-4E21-BB12-009918991D79}"/>
              </a:ext>
            </a:extLst>
          </p:cNvPr>
          <p:cNvSpPr>
            <a:spLocks xmlns:a="http://schemas.openxmlformats.org/drawingml/2006/main" noGrp="1"/>
          </p:cNvSpPr>
          <p:nvPr/>
        </p:nvSpPr>
        <p:spPr>
          <a:xfrm xmlns:a="http://schemas.openxmlformats.org/drawingml/2006/main">
            <a:off x="8743950" y="20955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087E8B"/>
                </a:solidFill>
                <a:latin typeface="Arial"/>
                <a:ea typeface="Arial"/>
                <a:cs typeface="Arial"/>
              </a:defRPr>
            </a:defPPr>
            <a:lvl1pPr>
              <a:defRPr sz="4500" b="1">
                <a:solidFill>
                  <a:srgbClr val="087E8B"/>
                </a:solidFill>
                <a:latin typeface="Arial"/>
                <a:ea typeface="Arial"/>
                <a:cs typeface="Arial"/>
              </a:defRPr>
            </a:lvl1pPr>
            <a:lvl2pPr>
              <a:defRPr sz="4500" b="1">
                <a:solidFill>
                  <a:srgbClr val="087E8B"/>
                </a:solidFill>
                <a:latin typeface="Arial"/>
                <a:ea typeface="Arial"/>
                <a:cs typeface="Arial"/>
              </a:defRPr>
            </a:lvl2pPr>
            <a:lvl3pPr>
              <a:defRPr sz="4500" b="1">
                <a:solidFill>
                  <a:srgbClr val="087E8B"/>
                </a:solidFill>
                <a:latin typeface="Arial"/>
                <a:ea typeface="Arial"/>
                <a:cs typeface="Arial"/>
              </a:defRPr>
            </a:lvl3pPr>
            <a:lvl4pPr>
              <a:defRPr sz="4500" b="1">
                <a:solidFill>
                  <a:srgbClr val="087E8B"/>
                </a:solidFill>
                <a:latin typeface="Arial"/>
                <a:ea typeface="Arial"/>
                <a:cs typeface="Arial"/>
              </a:defRPr>
            </a:lvl4pPr>
            <a:lvl5pPr>
              <a:defRPr sz="4500" b="1">
                <a:solidFill>
                  <a:srgbClr val="087E8B"/>
                </a:solidFill>
                <a:latin typeface="Arial"/>
                <a:ea typeface="Arial"/>
                <a:cs typeface="Arial"/>
              </a:defRPr>
            </a:lvl5pPr>
            <a:lvl6pPr>
              <a:defRPr sz="4500" b="1">
                <a:solidFill>
                  <a:srgbClr val="087E8B"/>
                </a:solidFill>
                <a:latin typeface="Arial"/>
                <a:ea typeface="Arial"/>
                <a:cs typeface="Arial"/>
              </a:defRPr>
            </a:lvl6pPr>
            <a:lvl7pPr>
              <a:defRPr sz="4500" b="1">
                <a:solidFill>
                  <a:srgbClr val="087E8B"/>
                </a:solidFill>
                <a:latin typeface="Arial"/>
                <a:ea typeface="Arial"/>
                <a:cs typeface="Arial"/>
              </a:defRPr>
            </a:lvl7pPr>
            <a:lvl8pPr>
              <a:defRPr sz="4500" b="1">
                <a:solidFill>
                  <a:srgbClr val="087E8B"/>
                </a:solidFill>
                <a:latin typeface="Arial"/>
                <a:ea typeface="Arial"/>
                <a:cs typeface="Arial"/>
              </a:defRPr>
            </a:lvl8pPr>
            <a:lvl9pPr>
              <a:defRPr sz="4500" b="1">
                <a:solidFill>
                  <a:srgbClr val="087E8B"/>
                </a:solidFill>
                <a:latin typeface="Arial"/>
                <a:ea typeface="Arial"/>
                <a:cs typeface="Arial"/>
              </a:defRPr>
            </a:lvl9pPr>
          </a:lstStyle>
          <a:p xmlns:a="http://schemas.openxmlformats.org/drawingml/2006/main">
            <a:pPr>
              <a:defRPr sz="4500" b="1">
                <a:solidFill>
                  <a:srgbClr val="087E8B"/>
                </a:solidFill>
                <a:latin typeface="Arial"/>
                <a:ea typeface="Arial"/>
                <a:cs typeface="Arial"/>
              </a:defRPr>
            </a:pPr>
            <a:r>
              <a:rPr sz="4500" b="1">
                <a:solidFill>
                  <a:srgbClr val="087E8B"/>
                </a:solidFill>
                <a:latin typeface="Arial"/>
                <a:ea typeface="Arial"/>
                <a:cs typeface="Arial"/>
              </a:rPr>
              <a:t>0.859</a:t>
            </a:r>
          </a:p>
        </p:txBody>
      </p:sp>
      <p:sp>
        <p:nvSpPr>
          <p:cNvPr id="5" name="ROC AUC">
            <a:extLst xmlns:a="http://schemas.openxmlformats.org/drawingml/2006/main">
              <a:ext uri="{FF2B5EF4-FFF2-40B4-BE49-F238E27FC236}">
                <a16:creationId xmlns:a16="http://schemas.microsoft.com/office/drawing/2014/main" id="{D4E3B4AA-B649-421E-AD33-BD6C1EE0C242}"/>
              </a:ext>
            </a:extLst>
          </p:cNvPr>
          <p:cNvSpPr>
            <a:spLocks xmlns:a="http://schemas.openxmlformats.org/drawingml/2006/main" noGrp="1"/>
          </p:cNvSpPr>
          <p:nvPr/>
        </p:nvSpPr>
        <p:spPr>
          <a:xfrm xmlns:a="http://schemas.openxmlformats.org/drawingml/2006/main">
            <a:off x="8743950" y="308610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latin typeface="Arial"/>
                <a:ea typeface="Arial"/>
                <a:cs typeface="Arial"/>
              </a:defRPr>
            </a:defPPr>
            <a:lvl1pPr>
              <a:defRPr sz="2175" b="0">
                <a:solidFill>
                  <a:srgbClr val="243B53"/>
                </a:solidFill>
                <a:latin typeface="Arial"/>
                <a:ea typeface="Arial"/>
                <a:cs typeface="Arial"/>
              </a:defRPr>
            </a:lvl1pPr>
            <a:lvl2pPr>
              <a:defRPr sz="2175" b="0">
                <a:solidFill>
                  <a:srgbClr val="243B53"/>
                </a:solidFill>
                <a:latin typeface="Arial"/>
                <a:ea typeface="Arial"/>
                <a:cs typeface="Arial"/>
              </a:defRPr>
            </a:lvl2pPr>
            <a:lvl3pPr>
              <a:defRPr sz="2175" b="0">
                <a:solidFill>
                  <a:srgbClr val="243B53"/>
                </a:solidFill>
                <a:latin typeface="Arial"/>
                <a:ea typeface="Arial"/>
                <a:cs typeface="Arial"/>
              </a:defRPr>
            </a:lvl3pPr>
            <a:lvl4pPr>
              <a:defRPr sz="2175" b="0">
                <a:solidFill>
                  <a:srgbClr val="243B53"/>
                </a:solidFill>
                <a:latin typeface="Arial"/>
                <a:ea typeface="Arial"/>
                <a:cs typeface="Arial"/>
              </a:defRPr>
            </a:lvl4pPr>
            <a:lvl5pPr>
              <a:defRPr sz="2175" b="0">
                <a:solidFill>
                  <a:srgbClr val="243B53"/>
                </a:solidFill>
                <a:latin typeface="Arial"/>
                <a:ea typeface="Arial"/>
                <a:cs typeface="Arial"/>
              </a:defRPr>
            </a:lvl5pPr>
            <a:lvl6pPr>
              <a:defRPr sz="2175" b="0">
                <a:solidFill>
                  <a:srgbClr val="243B53"/>
                </a:solidFill>
                <a:latin typeface="Arial"/>
                <a:ea typeface="Arial"/>
                <a:cs typeface="Arial"/>
              </a:defRPr>
            </a:lvl6pPr>
            <a:lvl7pPr>
              <a:defRPr sz="2175" b="0">
                <a:solidFill>
                  <a:srgbClr val="243B53"/>
                </a:solidFill>
                <a:latin typeface="Arial"/>
                <a:ea typeface="Arial"/>
                <a:cs typeface="Arial"/>
              </a:defRPr>
            </a:lvl7pPr>
            <a:lvl8pPr>
              <a:defRPr sz="2175" b="0">
                <a:solidFill>
                  <a:srgbClr val="243B53"/>
                </a:solidFill>
                <a:latin typeface="Arial"/>
                <a:ea typeface="Arial"/>
                <a:cs typeface="Arial"/>
              </a:defRPr>
            </a:lvl8pPr>
            <a:lvl9pPr>
              <a:defRPr sz="2175" b="0">
                <a:solidFill>
                  <a:srgbClr val="243B53"/>
                </a:solidFill>
                <a:latin typeface="Arial"/>
                <a:ea typeface="Arial"/>
                <a:cs typeface="Arial"/>
              </a:defRPr>
            </a:lvl9pPr>
          </a:lstStyle>
          <a:p xmlns:a="http://schemas.openxmlformats.org/drawingml/2006/main">
            <a:pPr>
              <a:defRPr sz="2175" b="0">
                <a:solidFill>
                  <a:srgbClr val="243B53"/>
                </a:solidFill>
                <a:latin typeface="Arial"/>
                <a:ea typeface="Arial"/>
                <a:cs typeface="Arial"/>
              </a:defRPr>
            </a:pPr>
            <a:r>
              <a:rPr sz="2175" b="0">
                <a:solidFill>
                  <a:srgbClr val="243B53"/>
                </a:solidFill>
                <a:latin typeface="Arial"/>
                <a:ea typeface="Arial"/>
                <a:cs typeface="Arial"/>
              </a:rPr>
              <a:t>ROC AUC</a:t>
            </a:r>
          </a:p>
        </p:txBody>
      </p:sp>
      <p:sp>
        <p:nvSpPr>
          <p:cNvPr id="6" name="Always-stayed baseline: 79.65% accuracy, b">
            <a:extLst xmlns:a="http://schemas.openxmlformats.org/drawingml/2006/main">
              <a:ext uri="{FF2B5EF4-FFF2-40B4-BE49-F238E27FC236}">
                <a16:creationId xmlns:a16="http://schemas.microsoft.com/office/drawing/2014/main" id="{1E9CB576-52D2-4AF0-8E64-736FC6B732C9}"/>
              </a:ext>
            </a:extLst>
          </p:cNvPr>
          <p:cNvSpPr>
            <a:spLocks xmlns:a="http://schemas.openxmlformats.org/drawingml/2006/main" noGrp="1"/>
          </p:cNvSpPr>
          <p:nvPr/>
        </p:nvSpPr>
        <p:spPr>
          <a:xfrm xmlns:a="http://schemas.openxmlformats.org/drawingml/2006/main">
            <a:off x="685800" y="57245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Always-stayed baseline: 79.65% accuracy, but 0% churn recall.</a:t>
            </a:r>
          </a:p>
        </p:txBody>
      </p:sp>
    </p:spTree>
    <p:extLst>
      <p:ext uri="{BB962C8B-B14F-4D97-AF65-F5344CB8AC3E}">
        <p14:creationId xmlns:p14="http://schemas.microsoft.com/office/powerpoint/2010/main" val="1057121956"/>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What the errors mean">
            <a:extLst xmlns:a="http://schemas.openxmlformats.org/drawingml/2006/main">
              <a:ext uri="{FF2B5EF4-FFF2-40B4-BE49-F238E27FC236}">
                <a16:creationId xmlns:a16="http://schemas.microsoft.com/office/drawing/2014/main" id="{392C97CF-4742-498A-B780-CD43A2B478AB}"/>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What the errors mean</a:t>
            </a:r>
          </a:p>
        </p:txBody>
      </p:sp>
      <p:sp>
        <p:nvSpPr>
          <p:cNvPr id="2" name="12">
            <a:extLst xmlns:a="http://schemas.openxmlformats.org/drawingml/2006/main">
              <a:ext uri="{FF2B5EF4-FFF2-40B4-BE49-F238E27FC236}">
                <a16:creationId xmlns:a16="http://schemas.microsoft.com/office/drawing/2014/main" id="{8CF2AD4F-A517-49C9-B3E0-FAAE9D6A9B61}"/>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140387DC-3563-4D31-8DEA-333DF6218DC2}"/>
              </a:ext>
            </a:extLst>
          </p:cNvPr>
          <p:cNvGraphicFramePr/>
          <p:nvPr/>
        </p:nvGraphicFramePr>
        <p:xfrm>
          <a:off xmlns:a="http://schemas.openxmlformats.org/drawingml/2006/main" x="685800" y="1562100"/>
          <a:ext xmlns:a="http://schemas.openxmlformats.org/drawingml/2006/main" cx="10820400" cy="2476500"/>
        </p:xfrm>
        <a:graphic xmlns:a="http://schemas.openxmlformats.org/drawingml/2006/main">
          <a:graphicData uri="http://schemas.openxmlformats.org/drawingml/2006/table">
            <a:tbl>
              <a:tblPr/>
              <a:tblGrid>
                <a:gridCol w="4381500"/>
                <a:gridCol w="3219450"/>
                <a:gridCol w="3219450"/>
              </a:tblGrid>
              <a:tr h="825500">
                <a:tc>
                  <a:txBody>
                    <a:bodyPr/>
                    <a:lstStyle/>
                    <a:p>
                      <a:r>
                        <a:rPr sz="2400" b="1">
                          <a:solidFill>
                            <a:srgbClr val="FFFFFF"/>
                          </a:solidFill>
                          <a:latin typeface="Arial"/>
                          <a:ea typeface="Arial"/>
                          <a:cs typeface="Arial"/>
                        </a:rPr>
                        <a:t>Actual / predicted</a:t>
                      </a:r>
                    </a:p>
                  </a:txBody>
                  <a:tcPr marL="91440" marR="91440" marT="45720" marB="45720">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2400" b="1">
                          <a:solidFill>
                            <a:srgbClr val="FFFFFF"/>
                          </a:solidFill>
                          <a:latin typeface="Arial"/>
                          <a:ea typeface="Arial"/>
                          <a:cs typeface="Arial"/>
                        </a:rPr>
                        <a:t>Stayed</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2400" b="1">
                          <a:solidFill>
                            <a:srgbClr val="FFFFFF"/>
                          </a:solidFill>
                          <a:latin typeface="Arial"/>
                          <a:ea typeface="Arial"/>
                          <a:cs typeface="Arial"/>
                        </a:rPr>
                        <a:t>Exited</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r>
              <a:tr h="825500">
                <a:tc>
                  <a:txBody>
                    <a:bodyPr/>
                    <a:lstStyle/>
                    <a:p>
                      <a:r>
                        <a:rPr sz="2400" b="0">
                          <a:solidFill>
                            <a:srgbClr val="243B53"/>
                          </a:solidFill>
                          <a:latin typeface="Arial"/>
                          <a:ea typeface="Arial"/>
                          <a:cs typeface="Arial"/>
                        </a:rPr>
                        <a:t>Stayed</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2400" b="0">
                          <a:solidFill>
                            <a:srgbClr val="243B53"/>
                          </a:solidFill>
                          <a:latin typeface="Arial"/>
                          <a:ea typeface="Arial"/>
                          <a:cs typeface="Arial"/>
                        </a:rPr>
                        <a:t>1,239</a:t>
                      </a:r>
                    </a:p>
                  </a:txBody>
                  <a:tcPr marL="91440" marR="91440" marT="45720" marB="45720">
                    <a:lnR w="9525">
                      <a:solidFill>
                        <a:srgbClr val="D6E1EB"/>
                      </a:solidFill>
                      <a:prstDash val="solid"/>
                    </a:lnR>
                    <a:lnB w="9525">
                      <a:solidFill>
                        <a:srgbClr val="D6E1EB"/>
                      </a:solidFill>
                      <a:prstDash val="solid"/>
                    </a:lnB>
                    <a:solidFill>
                      <a:srgbClr val="DDEFEA"/>
                    </a:solidFill>
                  </a:tcPr>
                </a:tc>
                <a:tc>
                  <a:txBody>
                    <a:bodyPr/>
                    <a:lstStyle/>
                    <a:p>
                      <a:r>
                        <a:rPr sz="2400" b="0">
                          <a:solidFill>
                            <a:srgbClr val="243B53"/>
                          </a:solidFill>
                          <a:latin typeface="Arial"/>
                          <a:ea typeface="Arial"/>
                          <a:cs typeface="Arial"/>
                        </a:rPr>
                        <a:t>354</a:t>
                      </a:r>
                    </a:p>
                  </a:txBody>
                  <a:tcPr marL="91440" marR="91440" marT="45720" marB="45720">
                    <a:lnR w="9525">
                      <a:solidFill>
                        <a:srgbClr val="D6E1EB"/>
                      </a:solidFill>
                      <a:prstDash val="solid"/>
                    </a:lnR>
                    <a:lnB w="9525">
                      <a:solidFill>
                        <a:srgbClr val="D6E1EB"/>
                      </a:solidFill>
                      <a:prstDash val="solid"/>
                    </a:lnB>
                    <a:solidFill>
                      <a:srgbClr val="FFFFFF"/>
                    </a:solidFill>
                  </a:tcPr>
                </a:tc>
              </a:tr>
              <a:tr h="825500">
                <a:tc>
                  <a:txBody>
                    <a:bodyPr/>
                    <a:lstStyle/>
                    <a:p>
                      <a:r>
                        <a:rPr sz="2400" b="0">
                          <a:solidFill>
                            <a:srgbClr val="243B53"/>
                          </a:solidFill>
                          <a:latin typeface="Arial"/>
                          <a:ea typeface="Arial"/>
                          <a:cs typeface="Arial"/>
                        </a:rPr>
                        <a:t>Exited</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2400" b="0">
                          <a:solidFill>
                            <a:srgbClr val="243B53"/>
                          </a:solidFill>
                          <a:latin typeface="Arial"/>
                          <a:ea typeface="Arial"/>
                          <a:cs typeface="Arial"/>
                        </a:rPr>
                        <a:t>98</a:t>
                      </a:r>
                    </a:p>
                  </a:txBody>
                  <a:tcPr marL="91440" marR="91440" marT="45720" marB="45720">
                    <a:lnR w="9525">
                      <a:solidFill>
                        <a:srgbClr val="D6E1EB"/>
                      </a:solidFill>
                      <a:prstDash val="solid"/>
                    </a:lnR>
                    <a:lnB w="9525">
                      <a:solidFill>
                        <a:srgbClr val="D6E1EB"/>
                      </a:solidFill>
                      <a:prstDash val="solid"/>
                    </a:lnB>
                    <a:solidFill>
                      <a:srgbClr val="EFF4F8"/>
                    </a:solidFill>
                  </a:tcPr>
                </a:tc>
                <a:tc>
                  <a:txBody>
                    <a:bodyPr/>
                    <a:lstStyle/>
                    <a:p>
                      <a:r>
                        <a:rPr sz="2400" b="0">
                          <a:solidFill>
                            <a:srgbClr val="243B53"/>
                          </a:solidFill>
                          <a:latin typeface="Arial"/>
                          <a:ea typeface="Arial"/>
                          <a:cs typeface="Arial"/>
                        </a:rPr>
                        <a:t>309</a:t>
                      </a:r>
                    </a:p>
                  </a:txBody>
                  <a:tcPr marL="91440" marR="91440" marT="45720" marB="45720">
                    <a:lnR w="9525">
                      <a:solidFill>
                        <a:srgbClr val="D6E1EB"/>
                      </a:solidFill>
                      <a:prstDash val="solid"/>
                    </a:lnR>
                    <a:lnB w="9525">
                      <a:solidFill>
                        <a:srgbClr val="D6E1EB"/>
                      </a:solidFill>
                      <a:prstDash val="solid"/>
                    </a:lnB>
                    <a:solidFill>
                      <a:srgbClr val="DDEFEA"/>
                    </a:solidFill>
                  </a:tcPr>
                </a:tc>
              </a:tr>
            </a:tbl>
          </a:graphicData>
        </a:graphic>
      </p:graphicFrame>
      <p:sp>
        <p:nvSpPr>
          <p:cNvPr id="4" name="309 of 407 churn cases detected">
            <a:extLst xmlns:a="http://schemas.openxmlformats.org/drawingml/2006/main">
              <a:ext uri="{FF2B5EF4-FFF2-40B4-BE49-F238E27FC236}">
                <a16:creationId xmlns:a16="http://schemas.microsoft.com/office/drawing/2014/main" id="{7AC1EDBC-9C5E-43CD-9110-642E93C2CFC3}"/>
              </a:ext>
            </a:extLst>
          </p:cNvPr>
          <p:cNvSpPr>
            <a:spLocks xmlns:a="http://schemas.openxmlformats.org/drawingml/2006/main" noGrp="1"/>
          </p:cNvSpPr>
          <p:nvPr/>
        </p:nvSpPr>
        <p:spPr>
          <a:xfrm xmlns:a="http://schemas.openxmlformats.org/drawingml/2006/main">
            <a:off x="762000" y="44767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E8B"/>
                </a:solidFill>
                <a:latin typeface="Arial"/>
                <a:ea typeface="Arial"/>
                <a:cs typeface="Arial"/>
              </a:defRPr>
            </a:defPPr>
            <a:lvl1pPr>
              <a:defRPr sz="2550" b="1">
                <a:solidFill>
                  <a:srgbClr val="087E8B"/>
                </a:solidFill>
                <a:latin typeface="Arial"/>
                <a:ea typeface="Arial"/>
                <a:cs typeface="Arial"/>
              </a:defRPr>
            </a:lvl1pPr>
            <a:lvl2pPr>
              <a:defRPr sz="2550" b="1">
                <a:solidFill>
                  <a:srgbClr val="087E8B"/>
                </a:solidFill>
                <a:latin typeface="Arial"/>
                <a:ea typeface="Arial"/>
                <a:cs typeface="Arial"/>
              </a:defRPr>
            </a:lvl2pPr>
            <a:lvl3pPr>
              <a:defRPr sz="2550" b="1">
                <a:solidFill>
                  <a:srgbClr val="087E8B"/>
                </a:solidFill>
                <a:latin typeface="Arial"/>
                <a:ea typeface="Arial"/>
                <a:cs typeface="Arial"/>
              </a:defRPr>
            </a:lvl3pPr>
            <a:lvl4pPr>
              <a:defRPr sz="2550" b="1">
                <a:solidFill>
                  <a:srgbClr val="087E8B"/>
                </a:solidFill>
                <a:latin typeface="Arial"/>
                <a:ea typeface="Arial"/>
                <a:cs typeface="Arial"/>
              </a:defRPr>
            </a:lvl4pPr>
            <a:lvl5pPr>
              <a:defRPr sz="2550" b="1">
                <a:solidFill>
                  <a:srgbClr val="087E8B"/>
                </a:solidFill>
                <a:latin typeface="Arial"/>
                <a:ea typeface="Arial"/>
                <a:cs typeface="Arial"/>
              </a:defRPr>
            </a:lvl5pPr>
            <a:lvl6pPr>
              <a:defRPr sz="2550" b="1">
                <a:solidFill>
                  <a:srgbClr val="087E8B"/>
                </a:solidFill>
                <a:latin typeface="Arial"/>
                <a:ea typeface="Arial"/>
                <a:cs typeface="Arial"/>
              </a:defRPr>
            </a:lvl6pPr>
            <a:lvl7pPr>
              <a:defRPr sz="2550" b="1">
                <a:solidFill>
                  <a:srgbClr val="087E8B"/>
                </a:solidFill>
                <a:latin typeface="Arial"/>
                <a:ea typeface="Arial"/>
                <a:cs typeface="Arial"/>
              </a:defRPr>
            </a:lvl7pPr>
            <a:lvl8pPr>
              <a:defRPr sz="2550" b="1">
                <a:solidFill>
                  <a:srgbClr val="087E8B"/>
                </a:solidFill>
                <a:latin typeface="Arial"/>
                <a:ea typeface="Arial"/>
                <a:cs typeface="Arial"/>
              </a:defRPr>
            </a:lvl8pPr>
            <a:lvl9pPr>
              <a:defRPr sz="2550" b="1">
                <a:solidFill>
                  <a:srgbClr val="087E8B"/>
                </a:solidFill>
                <a:latin typeface="Arial"/>
                <a:ea typeface="Arial"/>
                <a:cs typeface="Arial"/>
              </a:defRPr>
            </a:lvl9pPr>
          </a:lstStyle>
          <a:p xmlns:a="http://schemas.openxmlformats.org/drawingml/2006/main">
            <a:pPr>
              <a:defRPr sz="2550" b="1">
                <a:solidFill>
                  <a:srgbClr val="087E8B"/>
                </a:solidFill>
                <a:latin typeface="Arial"/>
                <a:ea typeface="Arial"/>
                <a:cs typeface="Arial"/>
              </a:defRPr>
            </a:pPr>
            <a:r>
              <a:rPr sz="2550" b="1">
                <a:solidFill>
                  <a:srgbClr val="087E8B"/>
                </a:solidFill>
                <a:latin typeface="Arial"/>
                <a:ea typeface="Arial"/>
                <a:cs typeface="Arial"/>
              </a:rPr>
              <a:t>309 of 407 churn cases detected</a:t>
            </a:r>
          </a:p>
        </p:txBody>
      </p:sp>
      <p:sp>
        <p:nvSpPr>
          <p:cNvPr id="5" name="98 missed churners and 354 false alarms">
            <a:extLst xmlns:a="http://schemas.openxmlformats.org/drawingml/2006/main">
              <a:ext uri="{FF2B5EF4-FFF2-40B4-BE49-F238E27FC236}">
                <a16:creationId xmlns:a16="http://schemas.microsoft.com/office/drawing/2014/main" id="{5FF1891F-ABD1-4826-A3B9-BECE235E796D}"/>
              </a:ext>
            </a:extLst>
          </p:cNvPr>
          <p:cNvSpPr>
            <a:spLocks xmlns:a="http://schemas.openxmlformats.org/drawingml/2006/main" noGrp="1"/>
          </p:cNvSpPr>
          <p:nvPr/>
        </p:nvSpPr>
        <p:spPr>
          <a:xfrm xmlns:a="http://schemas.openxmlformats.org/drawingml/2006/main">
            <a:off x="762000" y="52197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B53"/>
                </a:solidFill>
                <a:latin typeface="Arial"/>
                <a:ea typeface="Arial"/>
                <a:cs typeface="Arial"/>
              </a:defRPr>
            </a:defPPr>
            <a:lvl1pPr>
              <a:defRPr sz="2250" b="0">
                <a:solidFill>
                  <a:srgbClr val="243B53"/>
                </a:solidFill>
                <a:latin typeface="Arial"/>
                <a:ea typeface="Arial"/>
                <a:cs typeface="Arial"/>
              </a:defRPr>
            </a:lvl1pPr>
            <a:lvl2pPr>
              <a:defRPr sz="2250" b="0">
                <a:solidFill>
                  <a:srgbClr val="243B53"/>
                </a:solidFill>
                <a:latin typeface="Arial"/>
                <a:ea typeface="Arial"/>
                <a:cs typeface="Arial"/>
              </a:defRPr>
            </a:lvl2pPr>
            <a:lvl3pPr>
              <a:defRPr sz="2250" b="0">
                <a:solidFill>
                  <a:srgbClr val="243B53"/>
                </a:solidFill>
                <a:latin typeface="Arial"/>
                <a:ea typeface="Arial"/>
                <a:cs typeface="Arial"/>
              </a:defRPr>
            </a:lvl3pPr>
            <a:lvl4pPr>
              <a:defRPr sz="2250" b="0">
                <a:solidFill>
                  <a:srgbClr val="243B53"/>
                </a:solidFill>
                <a:latin typeface="Arial"/>
                <a:ea typeface="Arial"/>
                <a:cs typeface="Arial"/>
              </a:defRPr>
            </a:lvl4pPr>
            <a:lvl5pPr>
              <a:defRPr sz="2250" b="0">
                <a:solidFill>
                  <a:srgbClr val="243B53"/>
                </a:solidFill>
                <a:latin typeface="Arial"/>
                <a:ea typeface="Arial"/>
                <a:cs typeface="Arial"/>
              </a:defRPr>
            </a:lvl5pPr>
            <a:lvl6pPr>
              <a:defRPr sz="2250" b="0">
                <a:solidFill>
                  <a:srgbClr val="243B53"/>
                </a:solidFill>
                <a:latin typeface="Arial"/>
                <a:ea typeface="Arial"/>
                <a:cs typeface="Arial"/>
              </a:defRPr>
            </a:lvl6pPr>
            <a:lvl7pPr>
              <a:defRPr sz="2250" b="0">
                <a:solidFill>
                  <a:srgbClr val="243B53"/>
                </a:solidFill>
                <a:latin typeface="Arial"/>
                <a:ea typeface="Arial"/>
                <a:cs typeface="Arial"/>
              </a:defRPr>
            </a:lvl7pPr>
            <a:lvl8pPr>
              <a:defRPr sz="2250" b="0">
                <a:solidFill>
                  <a:srgbClr val="243B53"/>
                </a:solidFill>
                <a:latin typeface="Arial"/>
                <a:ea typeface="Arial"/>
                <a:cs typeface="Arial"/>
              </a:defRPr>
            </a:lvl8pPr>
            <a:lvl9pPr>
              <a:defRPr sz="2250" b="0">
                <a:solidFill>
                  <a:srgbClr val="243B53"/>
                </a:solidFill>
                <a:latin typeface="Arial"/>
                <a:ea typeface="Arial"/>
                <a:cs typeface="Arial"/>
              </a:defRPr>
            </a:lvl9pPr>
          </a:lstStyle>
          <a:p xmlns:a="http://schemas.openxmlformats.org/drawingml/2006/main">
            <a:pPr>
              <a:defRPr sz="2250" b="0">
                <a:solidFill>
                  <a:srgbClr val="243B53"/>
                </a:solidFill>
                <a:latin typeface="Arial"/>
                <a:ea typeface="Arial"/>
                <a:cs typeface="Arial"/>
              </a:defRPr>
            </a:pPr>
            <a:r>
              <a:rPr sz="2250" b="0">
                <a:solidFill>
                  <a:srgbClr val="243B53"/>
                </a:solidFill>
                <a:latin typeface="Arial"/>
                <a:ea typeface="Arial"/>
                <a:cs typeface="Arial"/>
              </a:rPr>
              <a:t>98 missed churners and 354 false alarms</a:t>
            </a:r>
          </a:p>
        </p:txBody>
      </p:sp>
    </p:spTree>
    <p:extLst>
      <p:ext uri="{BB962C8B-B14F-4D97-AF65-F5344CB8AC3E}">
        <p14:creationId xmlns:p14="http://schemas.microsoft.com/office/powerpoint/2010/main" val="347120786"/>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Prediction and risk categories">
            <a:extLst xmlns:a="http://schemas.openxmlformats.org/drawingml/2006/main">
              <a:ext uri="{FF2B5EF4-FFF2-40B4-BE49-F238E27FC236}">
                <a16:creationId xmlns:a16="http://schemas.microsoft.com/office/drawing/2014/main" id="{6596D130-43EB-4C97-9E46-E231CC9A9A2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Prediction and risk categories</a:t>
            </a:r>
          </a:p>
        </p:txBody>
      </p:sp>
      <p:sp>
        <p:nvSpPr>
          <p:cNvPr id="2" name="13">
            <a:extLst xmlns:a="http://schemas.openxmlformats.org/drawingml/2006/main">
              <a:ext uri="{FF2B5EF4-FFF2-40B4-BE49-F238E27FC236}">
                <a16:creationId xmlns:a16="http://schemas.microsoft.com/office/drawing/2014/main" id="{A47472FF-F050-4707-80BD-E15D986E6C3F}"/>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077FD3B6-8D2C-4A6D-B163-A9003CB36C88}"/>
              </a:ext>
            </a:extLst>
          </p:cNvPr>
          <p:cNvGraphicFramePr/>
          <p:nvPr/>
        </p:nvGraphicFramePr>
        <p:xfrm>
          <a:off xmlns:a="http://schemas.openxmlformats.org/drawingml/2006/main" x="685800" y="1562100"/>
          <a:ext xmlns:a="http://schemas.openxmlformats.org/drawingml/2006/main" cx="10820400" cy="2571750"/>
        </p:xfrm>
        <a:graphic xmlns:a="http://schemas.openxmlformats.org/drawingml/2006/main">
          <a:graphicData uri="http://schemas.openxmlformats.org/drawingml/2006/table">
            <a:tbl>
              <a:tblPr/>
              <a:tblGrid>
                <a:gridCol w="3333750"/>
                <a:gridCol w="7486650"/>
              </a:tblGrid>
              <a:tr h="642938">
                <a:tc>
                  <a:txBody>
                    <a:bodyPr/>
                    <a:lstStyle/>
                    <a:p>
                      <a:r>
                        <a:rPr sz="2250" b="1">
                          <a:solidFill>
                            <a:srgbClr val="FFFFFF"/>
                          </a:solidFill>
                          <a:latin typeface="Arial"/>
                          <a:ea typeface="Arial"/>
                          <a:cs typeface="Arial"/>
                        </a:rPr>
                        <a:t>Display category</a:t>
                      </a:r>
                    </a:p>
                  </a:txBody>
                  <a:tcPr marL="91440" marR="91440" marT="45720" marB="45720">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2250" b="1">
                          <a:solidFill>
                            <a:srgbClr val="FFFFFF"/>
                          </a:solidFill>
                          <a:latin typeface="Arial"/>
                          <a:ea typeface="Arial"/>
                          <a:cs typeface="Arial"/>
                        </a:rPr>
                        <a:t>Exit-risk score</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r>
              <a:tr h="642938">
                <a:tc>
                  <a:txBody>
                    <a:bodyPr/>
                    <a:lstStyle/>
                    <a:p>
                      <a:r>
                        <a:rPr sz="2250" b="0">
                          <a:solidFill>
                            <a:srgbClr val="243B53"/>
                          </a:solidFill>
                          <a:latin typeface="Arial"/>
                          <a:ea typeface="Arial"/>
                          <a:cs typeface="Arial"/>
                        </a:rPr>
                        <a:t>Stable</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2250" b="0">
                          <a:solidFill>
                            <a:srgbClr val="243B53"/>
                          </a:solidFill>
                          <a:latin typeface="Arial"/>
                          <a:ea typeface="Arial"/>
                          <a:cs typeface="Arial"/>
                        </a:rPr>
                        <a:t>Below 0.35</a:t>
                      </a:r>
                    </a:p>
                  </a:txBody>
                  <a:tcPr marL="91440" marR="91440" marT="45720" marB="45720">
                    <a:lnR w="9525">
                      <a:solidFill>
                        <a:srgbClr val="D6E1EB"/>
                      </a:solidFill>
                      <a:prstDash val="solid"/>
                    </a:lnR>
                    <a:lnB w="9525">
                      <a:solidFill>
                        <a:srgbClr val="D6E1EB"/>
                      </a:solidFill>
                      <a:prstDash val="solid"/>
                    </a:lnB>
                    <a:solidFill>
                      <a:srgbClr val="FFFFFF"/>
                    </a:solidFill>
                  </a:tcPr>
                </a:tc>
              </a:tr>
              <a:tr h="642938">
                <a:tc>
                  <a:txBody>
                    <a:bodyPr/>
                    <a:lstStyle/>
                    <a:p>
                      <a:r>
                        <a:rPr sz="2250" b="0">
                          <a:solidFill>
                            <a:srgbClr val="243B53"/>
                          </a:solidFill>
                          <a:latin typeface="Arial"/>
                          <a:ea typeface="Arial"/>
                          <a:cs typeface="Arial"/>
                        </a:rPr>
                        <a:t>Watchlist</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2250" b="0">
                          <a:solidFill>
                            <a:srgbClr val="243B53"/>
                          </a:solidFill>
                          <a:latin typeface="Arial"/>
                          <a:ea typeface="Arial"/>
                          <a:cs typeface="Arial"/>
                        </a:rPr>
                        <a:t>0.35 to below 0.65</a:t>
                      </a:r>
                    </a:p>
                  </a:txBody>
                  <a:tcPr marL="91440" marR="91440" marT="45720" marB="45720">
                    <a:lnR w="9525">
                      <a:solidFill>
                        <a:srgbClr val="D6E1EB"/>
                      </a:solidFill>
                      <a:prstDash val="solid"/>
                    </a:lnR>
                    <a:lnB w="9525">
                      <a:solidFill>
                        <a:srgbClr val="D6E1EB"/>
                      </a:solidFill>
                      <a:prstDash val="solid"/>
                    </a:lnB>
                    <a:solidFill>
                      <a:srgbClr val="EFF4F8"/>
                    </a:solidFill>
                  </a:tcPr>
                </a:tc>
              </a:tr>
              <a:tr h="642938">
                <a:tc>
                  <a:txBody>
                    <a:bodyPr/>
                    <a:lstStyle/>
                    <a:p>
                      <a:r>
                        <a:rPr sz="2250" b="0">
                          <a:solidFill>
                            <a:srgbClr val="243B53"/>
                          </a:solidFill>
                          <a:latin typeface="Arial"/>
                          <a:ea typeface="Arial"/>
                          <a:cs typeface="Arial"/>
                        </a:rPr>
                        <a:t>High Risk</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2250" b="0">
                          <a:solidFill>
                            <a:srgbClr val="243B53"/>
                          </a:solidFill>
                          <a:latin typeface="Arial"/>
                          <a:ea typeface="Arial"/>
                          <a:cs typeface="Arial"/>
                        </a:rPr>
                        <a:t>0.65 and above</a:t>
                      </a:r>
                    </a:p>
                  </a:txBody>
                  <a:tcPr marL="91440" marR="91440" marT="45720" marB="45720">
                    <a:lnR w="9525">
                      <a:solidFill>
                        <a:srgbClr val="D6E1EB"/>
                      </a:solidFill>
                      <a:prstDash val="solid"/>
                    </a:lnR>
                    <a:lnB w="9525">
                      <a:solidFill>
                        <a:srgbClr val="D6E1EB"/>
                      </a:solidFill>
                      <a:prstDash val="solid"/>
                    </a:lnB>
                    <a:solidFill>
                      <a:srgbClr val="FFFFFF"/>
                    </a:solidFill>
                  </a:tcPr>
                </a:tc>
              </a:tr>
            </a:tbl>
          </a:graphicData>
        </a:graphic>
      </p:graphicFrame>
      <p:sp>
        <p:nvSpPr>
          <p:cNvPr id="4" name="The app reuses the saved model and preproc">
            <a:extLst xmlns:a="http://schemas.openxmlformats.org/drawingml/2006/main">
              <a:ext uri="{FF2B5EF4-FFF2-40B4-BE49-F238E27FC236}">
                <a16:creationId xmlns:a16="http://schemas.microsoft.com/office/drawing/2014/main" id="{A8D1C247-53B5-4BD3-B9D1-7CF4E2A1398F}"/>
              </a:ext>
            </a:extLst>
          </p:cNvPr>
          <p:cNvSpPr>
            <a:spLocks xmlns:a="http://schemas.openxmlformats.org/drawingml/2006/main" noGrp="1"/>
          </p:cNvSpPr>
          <p:nvPr/>
        </p:nvSpPr>
        <p:spPr>
          <a:xfrm xmlns:a="http://schemas.openxmlformats.org/drawingml/2006/main">
            <a:off x="762000" y="4533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The app reuses the saved model and preprocessor.</a:t>
            </a:r>
          </a:p>
        </p:txBody>
      </p:sp>
      <p:sp>
        <p:nvSpPr>
          <p:cNvPr id="5" name="Suggested actions follow rules. Scores are">
            <a:extLst xmlns:a="http://schemas.openxmlformats.org/drawingml/2006/main">
              <a:ext uri="{FF2B5EF4-FFF2-40B4-BE49-F238E27FC236}">
                <a16:creationId xmlns:a16="http://schemas.microsoft.com/office/drawing/2014/main" id="{0249D0D9-F55C-4870-B619-CB5DB4705817}"/>
              </a:ext>
            </a:extLst>
          </p:cNvPr>
          <p:cNvSpPr>
            <a:spLocks xmlns:a="http://schemas.openxmlformats.org/drawingml/2006/main" noGrp="1"/>
          </p:cNvSpPr>
          <p:nvPr/>
        </p:nvSpPr>
        <p:spPr>
          <a:xfrm xmlns:a="http://schemas.openxmlformats.org/drawingml/2006/main">
            <a:off x="762000" y="52197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53"/>
                </a:solidFill>
                <a:latin typeface="Arial"/>
                <a:ea typeface="Arial"/>
                <a:cs typeface="Arial"/>
              </a:defRPr>
            </a:defPPr>
            <a:lvl1pPr>
              <a:defRPr sz="2100" b="0">
                <a:solidFill>
                  <a:srgbClr val="243B53"/>
                </a:solidFill>
                <a:latin typeface="Arial"/>
                <a:ea typeface="Arial"/>
                <a:cs typeface="Arial"/>
              </a:defRPr>
            </a:lvl1pPr>
            <a:lvl2pPr>
              <a:defRPr sz="2100" b="0">
                <a:solidFill>
                  <a:srgbClr val="243B53"/>
                </a:solidFill>
                <a:latin typeface="Arial"/>
                <a:ea typeface="Arial"/>
                <a:cs typeface="Arial"/>
              </a:defRPr>
            </a:lvl2pPr>
            <a:lvl3pPr>
              <a:defRPr sz="2100" b="0">
                <a:solidFill>
                  <a:srgbClr val="243B53"/>
                </a:solidFill>
                <a:latin typeface="Arial"/>
                <a:ea typeface="Arial"/>
                <a:cs typeface="Arial"/>
              </a:defRPr>
            </a:lvl3pPr>
            <a:lvl4pPr>
              <a:defRPr sz="2100" b="0">
                <a:solidFill>
                  <a:srgbClr val="243B53"/>
                </a:solidFill>
                <a:latin typeface="Arial"/>
                <a:ea typeface="Arial"/>
                <a:cs typeface="Arial"/>
              </a:defRPr>
            </a:lvl4pPr>
            <a:lvl5pPr>
              <a:defRPr sz="2100" b="0">
                <a:solidFill>
                  <a:srgbClr val="243B53"/>
                </a:solidFill>
                <a:latin typeface="Arial"/>
                <a:ea typeface="Arial"/>
                <a:cs typeface="Arial"/>
              </a:defRPr>
            </a:lvl5pPr>
            <a:lvl6pPr>
              <a:defRPr sz="2100" b="0">
                <a:solidFill>
                  <a:srgbClr val="243B53"/>
                </a:solidFill>
                <a:latin typeface="Arial"/>
                <a:ea typeface="Arial"/>
                <a:cs typeface="Arial"/>
              </a:defRPr>
            </a:lvl6pPr>
            <a:lvl7pPr>
              <a:defRPr sz="2100" b="0">
                <a:solidFill>
                  <a:srgbClr val="243B53"/>
                </a:solidFill>
                <a:latin typeface="Arial"/>
                <a:ea typeface="Arial"/>
                <a:cs typeface="Arial"/>
              </a:defRPr>
            </a:lvl7pPr>
            <a:lvl8pPr>
              <a:defRPr sz="2100" b="0">
                <a:solidFill>
                  <a:srgbClr val="243B53"/>
                </a:solidFill>
                <a:latin typeface="Arial"/>
                <a:ea typeface="Arial"/>
                <a:cs typeface="Arial"/>
              </a:defRPr>
            </a:lvl8pPr>
            <a:lvl9pPr>
              <a:defRPr sz="2100" b="0">
                <a:solidFill>
                  <a:srgbClr val="243B53"/>
                </a:solidFill>
                <a:latin typeface="Arial"/>
                <a:ea typeface="Arial"/>
                <a:cs typeface="Arial"/>
              </a:defRPr>
            </a:lvl9pPr>
          </a:lstStyle>
          <a:p xmlns:a="http://schemas.openxmlformats.org/drawingml/2006/main">
            <a:pPr>
              <a:defRPr sz="2100" b="0">
                <a:solidFill>
                  <a:srgbClr val="243B53"/>
                </a:solidFill>
                <a:latin typeface="Arial"/>
                <a:ea typeface="Arial"/>
                <a:cs typeface="Arial"/>
              </a:defRPr>
            </a:pPr>
            <a:r>
              <a:rPr sz="2100" b="0">
                <a:solidFill>
                  <a:srgbClr val="243B53"/>
                </a:solidFill>
                <a:latin typeface="Arial"/>
                <a:ea typeface="Arial"/>
                <a:cs typeface="Arial"/>
              </a:rPr>
              <a:t>Suggested actions follow rules. Scores are uncalibrated estimates.</a:t>
            </a:r>
          </a:p>
        </p:txBody>
      </p:sp>
      <p:sp>
        <p:nvSpPr>
          <p:cNvPr id="6" name="Evaluation threshold: 0.50. Display bands ">
            <a:extLst xmlns:a="http://schemas.openxmlformats.org/drawingml/2006/main">
              <a:ext uri="{FF2B5EF4-FFF2-40B4-BE49-F238E27FC236}">
                <a16:creationId xmlns:a16="http://schemas.microsoft.com/office/drawing/2014/main" id="{38B2E4E9-C027-4216-BD7E-0CE6D6C4ED91}"/>
              </a:ext>
            </a:extLst>
          </p:cNvPr>
          <p:cNvSpPr>
            <a:spLocks xmlns:a="http://schemas.openxmlformats.org/drawingml/2006/main" noGrp="1"/>
          </p:cNvSpPr>
          <p:nvPr/>
        </p:nvSpPr>
        <p:spPr>
          <a:xfrm xmlns:a="http://schemas.openxmlformats.org/drawingml/2006/main">
            <a:off x="762000" y="5876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Evaluation threshold: 0.50. Display bands use 0.35 and 0.65.</a:t>
            </a:r>
          </a:p>
        </p:txBody>
      </p:sp>
    </p:spTree>
    <p:extLst>
      <p:ext uri="{BB962C8B-B14F-4D97-AF65-F5344CB8AC3E}">
        <p14:creationId xmlns:p14="http://schemas.microsoft.com/office/powerpoint/2010/main" val="650518298"/>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Application dashboard">
            <a:extLst xmlns:a="http://schemas.openxmlformats.org/drawingml/2006/main">
              <a:ext uri="{FF2B5EF4-FFF2-40B4-BE49-F238E27FC236}">
                <a16:creationId xmlns:a16="http://schemas.microsoft.com/office/drawing/2014/main" id="{9DB40A34-CB83-4C73-865B-9CDAF86C55D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Application dashboard</a:t>
            </a:r>
          </a:p>
        </p:txBody>
      </p:sp>
      <p:sp>
        <p:nvSpPr>
          <p:cNvPr id="2" name="14">
            <a:extLst xmlns:a="http://schemas.openxmlformats.org/drawingml/2006/main">
              <a:ext uri="{FF2B5EF4-FFF2-40B4-BE49-F238E27FC236}">
                <a16:creationId xmlns:a16="http://schemas.microsoft.com/office/drawing/2014/main" id="{97481D49-7AFD-4151-B8F7-44F1A44F392A}"/>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14</a:t>
            </a:r>
          </a:p>
        </p:txBody>
      </p:sp>
      <p:pic>
        <p:nvPicPr>
          <p:cNvPr id="3" name="">
            <a:extLst xmlns:a="http://schemas.openxmlformats.org/drawingml/2006/main">
              <a:ext uri="{FF2B5EF4-FFF2-40B4-BE49-F238E27FC236}">
                <a16:creationId xmlns:a16="http://schemas.microsoft.com/office/drawing/2014/main" id="{450F055A-8A9F-4136-8161-9CEEBF864D5E}"/>
              </a:ext>
            </a:extLst>
          </p:cNvPr>
          <p:cNvPicPr>
            <a:picLocks xmlns:a="http://schemas.openxmlformats.org/drawingml/2006/main" noChangeAspect="1"/>
          </p:cNvPicPr>
          <p:nvPr/>
        </p:nvPicPr>
        <p:blipFill>
          <a:blip xmlns:r="http://schemas.openxmlformats.org/officeDocument/2006/relationships" xmlns:a="http://schemas.openxmlformats.org/drawingml/2006/main" r:embed="Re00282c5734e426e"/>
          <a:stretch xmlns:a="http://schemas.openxmlformats.org/drawingml/2006/main"/>
        </p:blipFill>
        <p:spPr>
          <a:xfrm xmlns:a="http://schemas.openxmlformats.org/drawingml/2006/main">
            <a:off x="815340" y="1476375"/>
            <a:ext cx="6789420" cy="4714875"/>
          </a:xfrm>
          <a:prstGeom xmlns:a="http://schemas.openxmlformats.org/drawingml/2006/main" prst="rect">
            <a:avLst/>
          </a:prstGeom>
        </p:spPr>
      </p:pic>
      <p:sp>
        <p:nvSpPr>
          <p:cNvPr id="4" name="Historical customer overview">
            <a:extLst xmlns:a="http://schemas.openxmlformats.org/drawingml/2006/main">
              <a:ext uri="{FF2B5EF4-FFF2-40B4-BE49-F238E27FC236}">
                <a16:creationId xmlns:a16="http://schemas.microsoft.com/office/drawing/2014/main" id="{EBE3C77D-6FA8-4F4D-94C2-3E4B0258AE13}"/>
              </a:ext>
            </a:extLst>
          </p:cNvPr>
          <p:cNvSpPr>
            <a:spLocks xmlns:a="http://schemas.openxmlformats.org/drawingml/2006/main" noGrp="1"/>
          </p:cNvSpPr>
          <p:nvPr/>
        </p:nvSpPr>
        <p:spPr>
          <a:xfrm xmlns:a="http://schemas.openxmlformats.org/drawingml/2006/main">
            <a:off x="8143875" y="1800225"/>
            <a:ext cx="3476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Historical customer overview</a:t>
            </a:r>
          </a:p>
        </p:txBody>
      </p:sp>
      <p:sp>
        <p:nvSpPr>
          <p:cNvPr id="5" name="Customer count and churn rate&#10;&#10;Saved model">
            <a:extLst xmlns:a="http://schemas.openxmlformats.org/drawingml/2006/main">
              <a:ext uri="{FF2B5EF4-FFF2-40B4-BE49-F238E27FC236}">
                <a16:creationId xmlns:a16="http://schemas.microsoft.com/office/drawing/2014/main" id="{D3B74A5B-6558-4E20-A083-C993F49DA71D}"/>
              </a:ext>
            </a:extLst>
          </p:cNvPr>
          <p:cNvSpPr>
            <a:spLocks xmlns:a="http://schemas.openxmlformats.org/drawingml/2006/main" noGrp="1"/>
          </p:cNvSpPr>
          <p:nvPr/>
        </p:nvSpPr>
        <p:spPr>
          <a:xfrm xmlns:a="http://schemas.openxmlformats.org/drawingml/2006/main">
            <a:off x="8143875" y="2971800"/>
            <a:ext cx="3429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43B53"/>
                </a:solidFill>
                <a:latin typeface="Arial"/>
                <a:ea typeface="Arial"/>
                <a:cs typeface="Arial"/>
              </a:defRPr>
            </a:defPPr>
            <a:lvl1pPr>
              <a:defRPr sz="2025" b="0">
                <a:solidFill>
                  <a:srgbClr val="243B53"/>
                </a:solidFill>
                <a:latin typeface="Arial"/>
                <a:ea typeface="Arial"/>
                <a:cs typeface="Arial"/>
              </a:defRPr>
            </a:lvl1pPr>
            <a:lvl2pPr>
              <a:defRPr sz="2025" b="0">
                <a:solidFill>
                  <a:srgbClr val="243B53"/>
                </a:solidFill>
                <a:latin typeface="Arial"/>
                <a:ea typeface="Arial"/>
                <a:cs typeface="Arial"/>
              </a:defRPr>
            </a:lvl2pPr>
            <a:lvl3pPr>
              <a:defRPr sz="2025" b="0">
                <a:solidFill>
                  <a:srgbClr val="243B53"/>
                </a:solidFill>
                <a:latin typeface="Arial"/>
                <a:ea typeface="Arial"/>
                <a:cs typeface="Arial"/>
              </a:defRPr>
            </a:lvl3pPr>
            <a:lvl4pPr>
              <a:defRPr sz="2025" b="0">
                <a:solidFill>
                  <a:srgbClr val="243B53"/>
                </a:solidFill>
                <a:latin typeface="Arial"/>
                <a:ea typeface="Arial"/>
                <a:cs typeface="Arial"/>
              </a:defRPr>
            </a:lvl4pPr>
            <a:lvl5pPr>
              <a:defRPr sz="2025" b="0">
                <a:solidFill>
                  <a:srgbClr val="243B53"/>
                </a:solidFill>
                <a:latin typeface="Arial"/>
                <a:ea typeface="Arial"/>
                <a:cs typeface="Arial"/>
              </a:defRPr>
            </a:lvl5pPr>
            <a:lvl6pPr>
              <a:defRPr sz="2025" b="0">
                <a:solidFill>
                  <a:srgbClr val="243B53"/>
                </a:solidFill>
                <a:latin typeface="Arial"/>
                <a:ea typeface="Arial"/>
                <a:cs typeface="Arial"/>
              </a:defRPr>
            </a:lvl6pPr>
            <a:lvl7pPr>
              <a:defRPr sz="2025" b="0">
                <a:solidFill>
                  <a:srgbClr val="243B53"/>
                </a:solidFill>
                <a:latin typeface="Arial"/>
                <a:ea typeface="Arial"/>
                <a:cs typeface="Arial"/>
              </a:defRPr>
            </a:lvl7pPr>
            <a:lvl8pPr>
              <a:defRPr sz="2025" b="0">
                <a:solidFill>
                  <a:srgbClr val="243B53"/>
                </a:solidFill>
                <a:latin typeface="Arial"/>
                <a:ea typeface="Arial"/>
                <a:cs typeface="Arial"/>
              </a:defRPr>
            </a:lvl8pPr>
            <a:lvl9pPr>
              <a:defRPr sz="2025" b="0">
                <a:solidFill>
                  <a:srgbClr val="243B53"/>
                </a:solidFill>
                <a:latin typeface="Arial"/>
                <a:ea typeface="Arial"/>
                <a:cs typeface="Arial"/>
              </a:defRPr>
            </a:lvl9pPr>
          </a:lstStyle>
          <a:p xmlns:a="http://schemas.openxmlformats.org/drawingml/2006/main">
            <a:pPr>
              <a:defRPr sz="2025" b="0">
                <a:solidFill>
                  <a:srgbClr val="243B53"/>
                </a:solidFill>
                <a:latin typeface="Arial"/>
                <a:ea typeface="Arial"/>
                <a:cs typeface="Arial"/>
              </a:defRPr>
            </a:pPr>
            <a:r>
              <a:rPr sz="2025" b="0">
                <a:solidFill>
                  <a:srgbClr val="243B53"/>
                </a:solidFill>
                <a:latin typeface="Arial"/>
                <a:ea typeface="Arial"/>
                <a:cs typeface="Arial"/>
              </a:rPr>
              <a:t>Customer count and churn rate</a:t>
            </a:r>
          </a:p>
          <a:p xmlns:a="http://schemas.openxmlformats.org/drawingml/2006/main">
            <a:r>
              <a:t/>
            </a:r>
          </a:p>
          <a:p xmlns:a="http://schemas.openxmlformats.org/drawingml/2006/main">
            <a:pPr>
              <a:defRPr sz="2025" b="0">
                <a:solidFill>
                  <a:srgbClr val="243B53"/>
                </a:solidFill>
                <a:latin typeface="Arial"/>
                <a:ea typeface="Arial"/>
                <a:cs typeface="Arial"/>
              </a:defRPr>
            </a:pPr>
            <a:r>
              <a:rPr sz="2025" b="0">
                <a:solidFill>
                  <a:srgbClr val="243B53"/>
                </a:solidFill>
                <a:latin typeface="Arial"/>
                <a:ea typeface="Arial"/>
                <a:cs typeface="Arial"/>
              </a:rPr>
              <a:t>Saved model metrics</a:t>
            </a:r>
          </a:p>
          <a:p xmlns:a="http://schemas.openxmlformats.org/drawingml/2006/main">
            <a:r>
              <a:t/>
            </a:r>
          </a:p>
          <a:p xmlns:a="http://schemas.openxmlformats.org/drawingml/2006/main">
            <a:pPr>
              <a:defRPr sz="2025" b="0">
                <a:solidFill>
                  <a:srgbClr val="243B53"/>
                </a:solidFill>
                <a:latin typeface="Arial"/>
                <a:ea typeface="Arial"/>
                <a:cs typeface="Arial"/>
              </a:defRPr>
            </a:pPr>
            <a:r>
              <a:rPr sz="2025" b="0">
                <a:solidFill>
                  <a:srgbClr val="243B53"/>
                </a:solidFill>
                <a:latin typeface="Arial"/>
                <a:ea typeface="Arial"/>
                <a:cs typeface="Arial"/>
              </a:rPr>
              <a:t>Country and product analysis</a:t>
            </a:r>
          </a:p>
        </p:txBody>
      </p:sp>
    </p:spTree>
    <p:extLst>
      <p:ext uri="{BB962C8B-B14F-4D97-AF65-F5344CB8AC3E}">
        <p14:creationId xmlns:p14="http://schemas.microsoft.com/office/powerpoint/2010/main" val="883061005"/>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Live prediction demonstration">
            <a:extLst xmlns:a="http://schemas.openxmlformats.org/drawingml/2006/main">
              <a:ext uri="{FF2B5EF4-FFF2-40B4-BE49-F238E27FC236}">
                <a16:creationId xmlns:a16="http://schemas.microsoft.com/office/drawing/2014/main" id="{9D2A5710-3D78-40FB-BD54-D9E2389E3C7E}"/>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Live prediction demonstration</a:t>
            </a:r>
          </a:p>
        </p:txBody>
      </p:sp>
      <p:sp>
        <p:nvSpPr>
          <p:cNvPr id="2" name="15">
            <a:extLst xmlns:a="http://schemas.openxmlformats.org/drawingml/2006/main">
              <a:ext uri="{FF2B5EF4-FFF2-40B4-BE49-F238E27FC236}">
                <a16:creationId xmlns:a16="http://schemas.microsoft.com/office/drawing/2014/main" id="{635EB70A-386A-4525-BB11-43B077F60C85}"/>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15</a:t>
            </a:r>
          </a:p>
        </p:txBody>
      </p:sp>
      <p:pic>
        <p:nvPicPr>
          <p:cNvPr id="3" name="">
            <a:extLst xmlns:a="http://schemas.openxmlformats.org/drawingml/2006/main">
              <a:ext uri="{FF2B5EF4-FFF2-40B4-BE49-F238E27FC236}">
                <a16:creationId xmlns:a16="http://schemas.microsoft.com/office/drawing/2014/main" id="{6243D937-73C7-4977-AC33-580381D0FCC1}"/>
              </a:ext>
            </a:extLst>
          </p:cNvPr>
          <p:cNvPicPr>
            <a:picLocks xmlns:a="http://schemas.openxmlformats.org/drawingml/2006/main" noChangeAspect="1"/>
          </p:cNvPicPr>
          <p:nvPr/>
        </p:nvPicPr>
        <p:blipFill>
          <a:blip xmlns:r="http://schemas.openxmlformats.org/officeDocument/2006/relationships" xmlns:a="http://schemas.openxmlformats.org/drawingml/2006/main" r:embed="Rdd333a9f79af409d"/>
          <a:stretch xmlns:a="http://schemas.openxmlformats.org/drawingml/2006/main"/>
        </p:blipFill>
        <p:spPr>
          <a:xfrm xmlns:a="http://schemas.openxmlformats.org/drawingml/2006/main">
            <a:off x="815340" y="1476375"/>
            <a:ext cx="6789420" cy="4714875"/>
          </a:xfrm>
          <a:prstGeom xmlns:a="http://schemas.openxmlformats.org/drawingml/2006/main" prst="rect">
            <a:avLst/>
          </a:prstGeom>
        </p:spPr>
      </p:pic>
      <p:sp>
        <p:nvSpPr>
          <p:cNvPr id="4" name="1. Enter a customer profile">
            <a:extLst xmlns:a="http://schemas.openxmlformats.org/drawingml/2006/main">
              <a:ext uri="{FF2B5EF4-FFF2-40B4-BE49-F238E27FC236}">
                <a16:creationId xmlns:a16="http://schemas.microsoft.com/office/drawing/2014/main" id="{1CA445BD-9A25-4E75-8738-AC68AF5B5C49}"/>
              </a:ext>
            </a:extLst>
          </p:cNvPr>
          <p:cNvSpPr>
            <a:spLocks xmlns:a="http://schemas.openxmlformats.org/drawingml/2006/main" noGrp="1"/>
          </p:cNvSpPr>
          <p:nvPr/>
        </p:nvSpPr>
        <p:spPr>
          <a:xfrm xmlns:a="http://schemas.openxmlformats.org/drawingml/2006/main">
            <a:off x="8143875" y="173355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1. Enter a customer profile</a:t>
            </a:r>
          </a:p>
        </p:txBody>
      </p:sp>
      <p:sp>
        <p:nvSpPr>
          <p:cNvPr id="5" name="2. Generate the risk score">
            <a:extLst xmlns:a="http://schemas.openxmlformats.org/drawingml/2006/main">
              <a:ext uri="{FF2B5EF4-FFF2-40B4-BE49-F238E27FC236}">
                <a16:creationId xmlns:a16="http://schemas.microsoft.com/office/drawing/2014/main" id="{931F7DB9-21FE-43ED-9FBB-FB3EB499AC9A}"/>
              </a:ext>
            </a:extLst>
          </p:cNvPr>
          <p:cNvSpPr>
            <a:spLocks xmlns:a="http://schemas.openxmlformats.org/drawingml/2006/main" noGrp="1"/>
          </p:cNvSpPr>
          <p:nvPr/>
        </p:nvSpPr>
        <p:spPr>
          <a:xfrm xmlns:a="http://schemas.openxmlformats.org/drawingml/2006/main">
            <a:off x="8143875" y="29241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2. Generate the risk score</a:t>
            </a:r>
          </a:p>
        </p:txBody>
      </p:sp>
      <p:sp>
        <p:nvSpPr>
          <p:cNvPr id="6" name="3. Discuss the score and category">
            <a:extLst xmlns:a="http://schemas.openxmlformats.org/drawingml/2006/main">
              <a:ext uri="{FF2B5EF4-FFF2-40B4-BE49-F238E27FC236}">
                <a16:creationId xmlns:a16="http://schemas.microsoft.com/office/drawing/2014/main" id="{100384D4-FB82-4163-A244-4257DDA06A37}"/>
              </a:ext>
            </a:extLst>
          </p:cNvPr>
          <p:cNvSpPr>
            <a:spLocks xmlns:a="http://schemas.openxmlformats.org/drawingml/2006/main" noGrp="1"/>
          </p:cNvSpPr>
          <p:nvPr/>
        </p:nvSpPr>
        <p:spPr>
          <a:xfrm xmlns:a="http://schemas.openxmlformats.org/drawingml/2006/main">
            <a:off x="8143875" y="4114800"/>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E8B"/>
                </a:solidFill>
                <a:latin typeface="Arial"/>
                <a:ea typeface="Arial"/>
                <a:cs typeface="Arial"/>
              </a:defRPr>
            </a:defPPr>
            <a:lvl1pPr>
              <a:defRPr sz="2175" b="1">
                <a:solidFill>
                  <a:srgbClr val="087E8B"/>
                </a:solidFill>
                <a:latin typeface="Arial"/>
                <a:ea typeface="Arial"/>
                <a:cs typeface="Arial"/>
              </a:defRPr>
            </a:lvl1pPr>
            <a:lvl2pPr>
              <a:defRPr sz="2175" b="1">
                <a:solidFill>
                  <a:srgbClr val="087E8B"/>
                </a:solidFill>
                <a:latin typeface="Arial"/>
                <a:ea typeface="Arial"/>
                <a:cs typeface="Arial"/>
              </a:defRPr>
            </a:lvl2pPr>
            <a:lvl3pPr>
              <a:defRPr sz="2175" b="1">
                <a:solidFill>
                  <a:srgbClr val="087E8B"/>
                </a:solidFill>
                <a:latin typeface="Arial"/>
                <a:ea typeface="Arial"/>
                <a:cs typeface="Arial"/>
              </a:defRPr>
            </a:lvl3pPr>
            <a:lvl4pPr>
              <a:defRPr sz="2175" b="1">
                <a:solidFill>
                  <a:srgbClr val="087E8B"/>
                </a:solidFill>
                <a:latin typeface="Arial"/>
                <a:ea typeface="Arial"/>
                <a:cs typeface="Arial"/>
              </a:defRPr>
            </a:lvl4pPr>
            <a:lvl5pPr>
              <a:defRPr sz="2175" b="1">
                <a:solidFill>
                  <a:srgbClr val="087E8B"/>
                </a:solidFill>
                <a:latin typeface="Arial"/>
                <a:ea typeface="Arial"/>
                <a:cs typeface="Arial"/>
              </a:defRPr>
            </a:lvl5pPr>
            <a:lvl6pPr>
              <a:defRPr sz="2175" b="1">
                <a:solidFill>
                  <a:srgbClr val="087E8B"/>
                </a:solidFill>
                <a:latin typeface="Arial"/>
                <a:ea typeface="Arial"/>
                <a:cs typeface="Arial"/>
              </a:defRPr>
            </a:lvl6pPr>
            <a:lvl7pPr>
              <a:defRPr sz="2175" b="1">
                <a:solidFill>
                  <a:srgbClr val="087E8B"/>
                </a:solidFill>
                <a:latin typeface="Arial"/>
                <a:ea typeface="Arial"/>
                <a:cs typeface="Arial"/>
              </a:defRPr>
            </a:lvl7pPr>
            <a:lvl8pPr>
              <a:defRPr sz="2175" b="1">
                <a:solidFill>
                  <a:srgbClr val="087E8B"/>
                </a:solidFill>
                <a:latin typeface="Arial"/>
                <a:ea typeface="Arial"/>
                <a:cs typeface="Arial"/>
              </a:defRPr>
            </a:lvl8pPr>
            <a:lvl9pPr>
              <a:defRPr sz="2175" b="1">
                <a:solidFill>
                  <a:srgbClr val="087E8B"/>
                </a:solidFill>
                <a:latin typeface="Arial"/>
                <a:ea typeface="Arial"/>
                <a:cs typeface="Arial"/>
              </a:defRPr>
            </a:lvl9pPr>
          </a:lstStyle>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3. Discuss the score and category</a:t>
            </a:r>
          </a:p>
        </p:txBody>
      </p:sp>
      <p:sp>
        <p:nvSpPr>
          <p:cNvPr id="7" name="Default profile: 29.4%, Stable">
            <a:extLst xmlns:a="http://schemas.openxmlformats.org/drawingml/2006/main">
              <a:ext uri="{FF2B5EF4-FFF2-40B4-BE49-F238E27FC236}">
                <a16:creationId xmlns:a16="http://schemas.microsoft.com/office/drawing/2014/main" id="{22126D02-24F1-4F76-BFDE-F9EEE4BBACE7}"/>
              </a:ext>
            </a:extLst>
          </p:cNvPr>
          <p:cNvSpPr>
            <a:spLocks xmlns:a="http://schemas.openxmlformats.org/drawingml/2006/main" noGrp="1"/>
          </p:cNvSpPr>
          <p:nvPr/>
        </p:nvSpPr>
        <p:spPr>
          <a:xfrm xmlns:a="http://schemas.openxmlformats.org/drawingml/2006/main">
            <a:off x="8143875" y="5372100"/>
            <a:ext cx="342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latin typeface="Arial"/>
                <a:ea typeface="Arial"/>
                <a:cs typeface="Arial"/>
              </a:defRPr>
            </a:defPPr>
            <a:lvl1pPr>
              <a:defRPr sz="1950" b="0">
                <a:solidFill>
                  <a:srgbClr val="243B53"/>
                </a:solidFill>
                <a:latin typeface="Arial"/>
                <a:ea typeface="Arial"/>
                <a:cs typeface="Arial"/>
              </a:defRPr>
            </a:lvl1pPr>
            <a:lvl2pPr>
              <a:defRPr sz="1950" b="0">
                <a:solidFill>
                  <a:srgbClr val="243B53"/>
                </a:solidFill>
                <a:latin typeface="Arial"/>
                <a:ea typeface="Arial"/>
                <a:cs typeface="Arial"/>
              </a:defRPr>
            </a:lvl2pPr>
            <a:lvl3pPr>
              <a:defRPr sz="1950" b="0">
                <a:solidFill>
                  <a:srgbClr val="243B53"/>
                </a:solidFill>
                <a:latin typeface="Arial"/>
                <a:ea typeface="Arial"/>
                <a:cs typeface="Arial"/>
              </a:defRPr>
            </a:lvl3pPr>
            <a:lvl4pPr>
              <a:defRPr sz="1950" b="0">
                <a:solidFill>
                  <a:srgbClr val="243B53"/>
                </a:solidFill>
                <a:latin typeface="Arial"/>
                <a:ea typeface="Arial"/>
                <a:cs typeface="Arial"/>
              </a:defRPr>
            </a:lvl4pPr>
            <a:lvl5pPr>
              <a:defRPr sz="1950" b="0">
                <a:solidFill>
                  <a:srgbClr val="243B53"/>
                </a:solidFill>
                <a:latin typeface="Arial"/>
                <a:ea typeface="Arial"/>
                <a:cs typeface="Arial"/>
              </a:defRPr>
            </a:lvl5pPr>
            <a:lvl6pPr>
              <a:defRPr sz="1950" b="0">
                <a:solidFill>
                  <a:srgbClr val="243B53"/>
                </a:solidFill>
                <a:latin typeface="Arial"/>
                <a:ea typeface="Arial"/>
                <a:cs typeface="Arial"/>
              </a:defRPr>
            </a:lvl6pPr>
            <a:lvl7pPr>
              <a:defRPr sz="1950" b="0">
                <a:solidFill>
                  <a:srgbClr val="243B53"/>
                </a:solidFill>
                <a:latin typeface="Arial"/>
                <a:ea typeface="Arial"/>
                <a:cs typeface="Arial"/>
              </a:defRPr>
            </a:lvl7pPr>
            <a:lvl8pPr>
              <a:defRPr sz="1950" b="0">
                <a:solidFill>
                  <a:srgbClr val="243B53"/>
                </a:solidFill>
                <a:latin typeface="Arial"/>
                <a:ea typeface="Arial"/>
                <a:cs typeface="Arial"/>
              </a:defRPr>
            </a:lvl8pPr>
            <a:lvl9pPr>
              <a:defRPr sz="1950" b="0">
                <a:solidFill>
                  <a:srgbClr val="243B53"/>
                </a:solidFill>
                <a:latin typeface="Arial"/>
                <a:ea typeface="Arial"/>
                <a:cs typeface="Arial"/>
              </a:defRPr>
            </a:lvl9pPr>
          </a:lstStyle>
          <a:p xmlns:a="http://schemas.openxmlformats.org/drawingml/2006/main">
            <a:pPr>
              <a:defRPr sz="1950" b="0">
                <a:solidFill>
                  <a:srgbClr val="243B53"/>
                </a:solidFill>
                <a:latin typeface="Arial"/>
                <a:ea typeface="Arial"/>
                <a:cs typeface="Arial"/>
              </a:defRPr>
            </a:pPr>
            <a:r>
              <a:rPr sz="1950" b="0">
                <a:solidFill>
                  <a:srgbClr val="243B53"/>
                </a:solidFill>
                <a:latin typeface="Arial"/>
                <a:ea typeface="Arial"/>
                <a:cs typeface="Arial"/>
              </a:rPr>
              <a:t>Default profile: 29.4%, Stable</a:t>
            </a:r>
          </a:p>
        </p:txBody>
      </p:sp>
    </p:spTree>
    <p:extLst>
      <p:ext uri="{BB962C8B-B14F-4D97-AF65-F5344CB8AC3E}">
        <p14:creationId xmlns:p14="http://schemas.microsoft.com/office/powerpoint/2010/main" val="1040332888"/>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Local deployment on Windows">
            <a:extLst xmlns:a="http://schemas.openxmlformats.org/drawingml/2006/main">
              <a:ext uri="{FF2B5EF4-FFF2-40B4-BE49-F238E27FC236}">
                <a16:creationId xmlns:a16="http://schemas.microsoft.com/office/drawing/2014/main" id="{25B298F9-16FD-4EBC-93D3-FD7975833628}"/>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Local deployment on Windows</a:t>
            </a:r>
          </a:p>
        </p:txBody>
      </p:sp>
      <p:sp>
        <p:nvSpPr>
          <p:cNvPr id="2" name="16">
            <a:extLst xmlns:a="http://schemas.openxmlformats.org/drawingml/2006/main">
              <a:ext uri="{FF2B5EF4-FFF2-40B4-BE49-F238E27FC236}">
                <a16:creationId xmlns:a16="http://schemas.microsoft.com/office/drawing/2014/main" id="{8B97905D-DC70-4C2C-9C50-0DF073D4057D}"/>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FF6F65FB-CBC1-48ED-B38A-7CA0A6B076A2}"/>
              </a:ext>
            </a:extLst>
          </p:cNvPr>
          <p:cNvGraphicFramePr/>
          <p:nvPr/>
        </p:nvGraphicFramePr>
        <p:xfrm>
          <a:off xmlns:a="http://schemas.openxmlformats.org/drawingml/2006/main" x="685800" y="1562100"/>
          <a:ext xmlns:a="http://schemas.openxmlformats.org/drawingml/2006/main" cx="10820400" cy="3286125"/>
        </p:xfrm>
        <a:graphic xmlns:a="http://schemas.openxmlformats.org/drawingml/2006/main">
          <a:graphicData uri="http://schemas.openxmlformats.org/drawingml/2006/table">
            <a:tbl>
              <a:tblPr/>
              <a:tblGrid>
                <a:gridCol w="3333750"/>
                <a:gridCol w="7486650"/>
              </a:tblGrid>
              <a:tr h="547688">
                <a:tc>
                  <a:txBody>
                    <a:bodyPr/>
                    <a:lstStyle/>
                    <a:p>
                      <a:r>
                        <a:rPr sz="1950" b="1">
                          <a:solidFill>
                            <a:srgbClr val="FFFFFF"/>
                          </a:solidFill>
                          <a:latin typeface="Arial"/>
                          <a:ea typeface="Arial"/>
                          <a:cs typeface="Arial"/>
                        </a:rPr>
                        <a:t>Setting</a:t>
                      </a:r>
                    </a:p>
                  </a:txBody>
                  <a:tcPr marL="91440" marR="91440" marT="45720" marB="45720">
                    <a:lnL w="9525">
                      <a:solidFill>
                        <a:srgbClr val="D6E1EB"/>
                      </a:solidFill>
                      <a:prstDash val="solid"/>
                    </a:lnL>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c>
                  <a:txBody>
                    <a:bodyPr/>
                    <a:lstStyle/>
                    <a:p>
                      <a:r>
                        <a:rPr sz="1950" b="1">
                          <a:solidFill>
                            <a:srgbClr val="FFFFFF"/>
                          </a:solidFill>
                          <a:latin typeface="Arial"/>
                          <a:ea typeface="Arial"/>
                          <a:cs typeface="Arial"/>
                        </a:rPr>
                        <a:t>Value</a:t>
                      </a:r>
                    </a:p>
                  </a:txBody>
                  <a:tcPr marL="91440" marR="91440" marT="45720" marB="45720">
                    <a:lnR w="9525">
                      <a:solidFill>
                        <a:srgbClr val="D6E1EB"/>
                      </a:solidFill>
                      <a:prstDash val="solid"/>
                    </a:lnR>
                    <a:lnT w="9525">
                      <a:solidFill>
                        <a:srgbClr val="D6E1EB"/>
                      </a:solidFill>
                      <a:prstDash val="solid"/>
                    </a:lnT>
                    <a:lnB w="9525">
                      <a:solidFill>
                        <a:srgbClr val="D6E1EB"/>
                      </a:solidFill>
                      <a:prstDash val="solid"/>
                    </a:lnB>
                    <a:solidFill>
                      <a:srgbClr val="10243A"/>
                    </a:solidFill>
                  </a:tcPr>
                </a:tc>
              </a:tr>
              <a:tr h="547688">
                <a:tc>
                  <a:txBody>
                    <a:bodyPr/>
                    <a:lstStyle/>
                    <a:p>
                      <a:r>
                        <a:rPr sz="1950" b="0">
                          <a:solidFill>
                            <a:srgbClr val="243B53"/>
                          </a:solidFill>
                          <a:latin typeface="Arial"/>
                          <a:ea typeface="Arial"/>
                          <a:cs typeface="Arial"/>
                        </a:rPr>
                        <a:t>Runtime</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950" b="0">
                          <a:solidFill>
                            <a:srgbClr val="243B53"/>
                          </a:solidFill>
                          <a:latin typeface="Arial"/>
                          <a:ea typeface="Arial"/>
                          <a:cs typeface="Arial"/>
                        </a:rPr>
                        <a:t>Python 3.12 in a virtual environment</a:t>
                      </a:r>
                    </a:p>
                  </a:txBody>
                  <a:tcPr marL="91440" marR="91440" marT="45720" marB="45720">
                    <a:lnR w="9525">
                      <a:solidFill>
                        <a:srgbClr val="D6E1EB"/>
                      </a:solidFill>
                      <a:prstDash val="solid"/>
                    </a:lnR>
                    <a:lnB w="9525">
                      <a:solidFill>
                        <a:srgbClr val="D6E1EB"/>
                      </a:solidFill>
                      <a:prstDash val="solid"/>
                    </a:lnB>
                    <a:solidFill>
                      <a:srgbClr val="FFFFFF"/>
                    </a:solidFill>
                  </a:tcPr>
                </a:tc>
              </a:tr>
              <a:tr h="547688">
                <a:tc>
                  <a:txBody>
                    <a:bodyPr/>
                    <a:lstStyle/>
                    <a:p>
                      <a:r>
                        <a:rPr sz="1950" b="0">
                          <a:solidFill>
                            <a:srgbClr val="243B53"/>
                          </a:solidFill>
                          <a:latin typeface="Arial"/>
                          <a:ea typeface="Arial"/>
                          <a:cs typeface="Arial"/>
                        </a:rPr>
                        <a:t>Server</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950" b="0">
                          <a:solidFill>
                            <a:srgbClr val="243B53"/>
                          </a:solidFill>
                          <a:latin typeface="Arial"/>
                          <a:ea typeface="Arial"/>
                          <a:cs typeface="Arial"/>
                        </a:rPr>
                        <a:t>Streamlit 1.66.1 on the local computer</a:t>
                      </a:r>
                    </a:p>
                  </a:txBody>
                  <a:tcPr marL="91440" marR="91440" marT="45720" marB="45720">
                    <a:lnR w="9525">
                      <a:solidFill>
                        <a:srgbClr val="D6E1EB"/>
                      </a:solidFill>
                      <a:prstDash val="solid"/>
                    </a:lnR>
                    <a:lnB w="9525">
                      <a:solidFill>
                        <a:srgbClr val="D6E1EB"/>
                      </a:solidFill>
                      <a:prstDash val="solid"/>
                    </a:lnB>
                    <a:solidFill>
                      <a:srgbClr val="EFF4F8"/>
                    </a:solidFill>
                  </a:tcPr>
                </a:tc>
              </a:tr>
              <a:tr h="547688">
                <a:tc>
                  <a:txBody>
                    <a:bodyPr/>
                    <a:lstStyle/>
                    <a:p>
                      <a:r>
                        <a:rPr sz="1950" b="0">
                          <a:solidFill>
                            <a:srgbClr val="243B53"/>
                          </a:solidFill>
                          <a:latin typeface="Arial"/>
                          <a:ea typeface="Arial"/>
                          <a:cs typeface="Arial"/>
                        </a:rPr>
                        <a:t>Address and port</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950" b="0">
                          <a:solidFill>
                            <a:srgbClr val="243B53"/>
                          </a:solidFill>
                          <a:latin typeface="Arial"/>
                          <a:ea typeface="Arial"/>
                          <a:cs typeface="Arial"/>
                        </a:rPr>
                        <a:t>127.0.0.1 : 8501</a:t>
                      </a:r>
                    </a:p>
                  </a:txBody>
                  <a:tcPr marL="91440" marR="91440" marT="45720" marB="45720">
                    <a:lnR w="9525">
                      <a:solidFill>
                        <a:srgbClr val="D6E1EB"/>
                      </a:solidFill>
                      <a:prstDash val="solid"/>
                    </a:lnR>
                    <a:lnB w="9525">
                      <a:solidFill>
                        <a:srgbClr val="D6E1EB"/>
                      </a:solidFill>
                      <a:prstDash val="solid"/>
                    </a:lnB>
                    <a:solidFill>
                      <a:srgbClr val="FFFFFF"/>
                    </a:solidFill>
                  </a:tcPr>
                </a:tc>
              </a:tr>
              <a:tr h="547688">
                <a:tc>
                  <a:txBody>
                    <a:bodyPr/>
                    <a:lstStyle/>
                    <a:p>
                      <a:r>
                        <a:rPr sz="1950" b="0">
                          <a:solidFill>
                            <a:srgbClr val="243B53"/>
                          </a:solidFill>
                          <a:latin typeface="Arial"/>
                          <a:ea typeface="Arial"/>
                          <a:cs typeface="Arial"/>
                        </a:rPr>
                        <a:t>Start / stop</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EFF4F8"/>
                    </a:solidFill>
                  </a:tcPr>
                </a:tc>
                <a:tc>
                  <a:txBody>
                    <a:bodyPr/>
                    <a:lstStyle/>
                    <a:p>
                      <a:r>
                        <a:rPr sz="1950" b="0">
                          <a:solidFill>
                            <a:srgbClr val="243B53"/>
                          </a:solidFill>
                          <a:latin typeface="Arial"/>
                          <a:ea typeface="Arial"/>
                          <a:cs typeface="Arial"/>
                        </a:rPr>
                        <a:t>Run_Project.bat / Stop_Project.bat</a:t>
                      </a:r>
                    </a:p>
                  </a:txBody>
                  <a:tcPr marL="91440" marR="91440" marT="45720" marB="45720">
                    <a:lnR w="9525">
                      <a:solidFill>
                        <a:srgbClr val="D6E1EB"/>
                      </a:solidFill>
                      <a:prstDash val="solid"/>
                    </a:lnR>
                    <a:lnB w="9525">
                      <a:solidFill>
                        <a:srgbClr val="D6E1EB"/>
                      </a:solidFill>
                      <a:prstDash val="solid"/>
                    </a:lnB>
                    <a:solidFill>
                      <a:srgbClr val="EFF4F8"/>
                    </a:solidFill>
                  </a:tcPr>
                </a:tc>
              </a:tr>
              <a:tr h="547688">
                <a:tc>
                  <a:txBody>
                    <a:bodyPr/>
                    <a:lstStyle/>
                    <a:p>
                      <a:r>
                        <a:rPr sz="1950" b="0">
                          <a:solidFill>
                            <a:srgbClr val="243B53"/>
                          </a:solidFill>
                          <a:latin typeface="Arial"/>
                          <a:ea typeface="Arial"/>
                          <a:cs typeface="Arial"/>
                        </a:rPr>
                        <a:t>Inference files</a:t>
                      </a:r>
                    </a:p>
                  </a:txBody>
                  <a:tcPr marL="91440" marR="91440" marT="45720" marB="45720">
                    <a:lnL w="9525">
                      <a:solidFill>
                        <a:srgbClr val="D6E1EB"/>
                      </a:solidFill>
                      <a:prstDash val="solid"/>
                    </a:lnL>
                    <a:lnR w="9525">
                      <a:solidFill>
                        <a:srgbClr val="D6E1EB"/>
                      </a:solidFill>
                      <a:prstDash val="solid"/>
                    </a:lnR>
                    <a:lnB w="9525">
                      <a:solidFill>
                        <a:srgbClr val="D6E1EB"/>
                      </a:solidFill>
                      <a:prstDash val="solid"/>
                    </a:lnB>
                    <a:solidFill>
                      <a:srgbClr val="FFFFFF"/>
                    </a:solidFill>
                  </a:tcPr>
                </a:tc>
                <a:tc>
                  <a:txBody>
                    <a:bodyPr/>
                    <a:lstStyle/>
                    <a:p>
                      <a:r>
                        <a:rPr sz="1950" b="0">
                          <a:solidFill>
                            <a:srgbClr val="243B53"/>
                          </a:solidFill>
                          <a:latin typeface="Arial"/>
                          <a:ea typeface="Arial"/>
                          <a:cs typeface="Arial"/>
                        </a:rPr>
                        <a:t>Saved model, preprocessor, and reference CSV</a:t>
                      </a:r>
                    </a:p>
                  </a:txBody>
                  <a:tcPr marL="91440" marR="91440" marT="45720" marB="45720">
                    <a:lnR w="9525">
                      <a:solidFill>
                        <a:srgbClr val="D6E1EB"/>
                      </a:solidFill>
                      <a:prstDash val="solid"/>
                    </a:lnR>
                    <a:lnB w="9525">
                      <a:solidFill>
                        <a:srgbClr val="D6E1EB"/>
                      </a:solidFill>
                      <a:prstDash val="solid"/>
                    </a:lnB>
                    <a:solidFill>
                      <a:srgbClr val="FFFFFF"/>
                    </a:solidFill>
                  </a:tcPr>
                </a:tc>
              </a:tr>
            </a:tbl>
          </a:graphicData>
        </a:graphic>
      </p:graphicFrame>
      <p:sp>
        <p:nvSpPr>
          <p:cNvPr id="4" name="D:\Bank-Churn-Rate-Predictor">
            <a:extLst xmlns:a="http://schemas.openxmlformats.org/drawingml/2006/main">
              <a:ext uri="{FF2B5EF4-FFF2-40B4-BE49-F238E27FC236}">
                <a16:creationId xmlns:a16="http://schemas.microsoft.com/office/drawing/2014/main" id="{19355975-2125-4F61-8796-7C93B0A0C8FF}"/>
              </a:ext>
            </a:extLst>
          </p:cNvPr>
          <p:cNvSpPr>
            <a:spLocks xmlns:a="http://schemas.openxmlformats.org/drawingml/2006/main" noGrp="1"/>
          </p:cNvSpPr>
          <p:nvPr/>
        </p:nvSpPr>
        <p:spPr>
          <a:xfrm xmlns:a="http://schemas.openxmlformats.org/drawingml/2006/main">
            <a:off x="762000" y="5191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D:\Bank-Churn-Rate-Predictor</a:t>
            </a:r>
          </a:p>
        </p:txBody>
      </p:sp>
      <p:sp>
        <p:nvSpPr>
          <p:cNvPr id="5" name="Core prediction works offline after instal">
            <a:extLst xmlns:a="http://schemas.openxmlformats.org/drawingml/2006/main">
              <a:ext uri="{FF2B5EF4-FFF2-40B4-BE49-F238E27FC236}">
                <a16:creationId xmlns:a16="http://schemas.microsoft.com/office/drawing/2014/main" id="{4C1547C5-1BAC-4A80-B7E8-C81292699041}"/>
              </a:ext>
            </a:extLst>
          </p:cNvPr>
          <p:cNvSpPr>
            <a:spLocks xmlns:a="http://schemas.openxmlformats.org/drawingml/2006/main" noGrp="1"/>
          </p:cNvSpPr>
          <p:nvPr/>
        </p:nvSpPr>
        <p:spPr>
          <a:xfrm xmlns:a="http://schemas.openxmlformats.org/drawingml/2006/main">
            <a:off x="685800" y="57245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Core prediction works offline after installation.</a:t>
            </a:r>
          </a:p>
        </p:txBody>
      </p:sp>
    </p:spTree>
    <p:extLst>
      <p:ext uri="{BB962C8B-B14F-4D97-AF65-F5344CB8AC3E}">
        <p14:creationId xmlns:p14="http://schemas.microsoft.com/office/powerpoint/2010/main" val="830498165"/>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Limitations and next steps">
            <a:extLst xmlns:a="http://schemas.openxmlformats.org/drawingml/2006/main">
              <a:ext uri="{FF2B5EF4-FFF2-40B4-BE49-F238E27FC236}">
                <a16:creationId xmlns:a16="http://schemas.microsoft.com/office/drawing/2014/main" id="{D1C8E7CF-053E-46B7-8E3F-BEA3A5CBD1B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Limitations and next steps</a:t>
            </a:r>
          </a:p>
        </p:txBody>
      </p:sp>
      <p:sp>
        <p:nvSpPr>
          <p:cNvPr id="2" name="17">
            <a:extLst xmlns:a="http://schemas.openxmlformats.org/drawingml/2006/main">
              <a:ext uri="{FF2B5EF4-FFF2-40B4-BE49-F238E27FC236}">
                <a16:creationId xmlns:a16="http://schemas.microsoft.com/office/drawing/2014/main" id="{CF6D7EE0-2E2E-41F1-A021-EB80198CA443}"/>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17</a:t>
            </a:r>
          </a:p>
        </p:txBody>
      </p:sp>
      <p:sp>
        <p:nvSpPr>
          <p:cNvPr id="3" name="Validation">
            <a:extLst xmlns:a="http://schemas.openxmlformats.org/drawingml/2006/main">
              <a:ext uri="{FF2B5EF4-FFF2-40B4-BE49-F238E27FC236}">
                <a16:creationId xmlns:a16="http://schemas.microsoft.com/office/drawing/2014/main" id="{C7DDFB97-6CCB-4A3A-B246-FB14717F8CF8}"/>
              </a:ext>
            </a:extLst>
          </p:cNvPr>
          <p:cNvSpPr>
            <a:spLocks xmlns:a="http://schemas.openxmlformats.org/drawingml/2006/main" noGrp="1"/>
          </p:cNvSpPr>
          <p:nvPr/>
        </p:nvSpPr>
        <p:spPr>
          <a:xfrm xmlns:a="http://schemas.openxmlformats.org/drawingml/2006/main">
            <a:off x="762000" y="161925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Validation</a:t>
            </a:r>
          </a:p>
        </p:txBody>
      </p:sp>
      <p:sp>
        <p:nvSpPr>
          <p:cNvPr id="4" name="Split raw data before learning preprocessi">
            <a:extLst xmlns:a="http://schemas.openxmlformats.org/drawingml/2006/main">
              <a:ext uri="{FF2B5EF4-FFF2-40B4-BE49-F238E27FC236}">
                <a16:creationId xmlns:a16="http://schemas.microsoft.com/office/drawing/2014/main" id="{7F31C136-4E79-470C-B8A6-22F5FE4E04C7}"/>
              </a:ext>
            </a:extLst>
          </p:cNvPr>
          <p:cNvSpPr>
            <a:spLocks xmlns:a="http://schemas.openxmlformats.org/drawingml/2006/main" noGrp="1"/>
          </p:cNvSpPr>
          <p:nvPr/>
        </p:nvSpPr>
        <p:spPr>
          <a:xfrm xmlns:a="http://schemas.openxmlformats.org/drawingml/2006/main">
            <a:off x="3810000" y="1619250"/>
            <a:ext cx="771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53"/>
                </a:solidFill>
                <a:latin typeface="Arial"/>
                <a:ea typeface="Arial"/>
                <a:cs typeface="Arial"/>
              </a:defRPr>
            </a:defPPr>
            <a:lvl1pPr>
              <a:defRPr sz="2100" b="0">
                <a:solidFill>
                  <a:srgbClr val="243B53"/>
                </a:solidFill>
                <a:latin typeface="Arial"/>
                <a:ea typeface="Arial"/>
                <a:cs typeface="Arial"/>
              </a:defRPr>
            </a:lvl1pPr>
            <a:lvl2pPr>
              <a:defRPr sz="2100" b="0">
                <a:solidFill>
                  <a:srgbClr val="243B53"/>
                </a:solidFill>
                <a:latin typeface="Arial"/>
                <a:ea typeface="Arial"/>
                <a:cs typeface="Arial"/>
              </a:defRPr>
            </a:lvl2pPr>
            <a:lvl3pPr>
              <a:defRPr sz="2100" b="0">
                <a:solidFill>
                  <a:srgbClr val="243B53"/>
                </a:solidFill>
                <a:latin typeface="Arial"/>
                <a:ea typeface="Arial"/>
                <a:cs typeface="Arial"/>
              </a:defRPr>
            </a:lvl3pPr>
            <a:lvl4pPr>
              <a:defRPr sz="2100" b="0">
                <a:solidFill>
                  <a:srgbClr val="243B53"/>
                </a:solidFill>
                <a:latin typeface="Arial"/>
                <a:ea typeface="Arial"/>
                <a:cs typeface="Arial"/>
              </a:defRPr>
            </a:lvl4pPr>
            <a:lvl5pPr>
              <a:defRPr sz="2100" b="0">
                <a:solidFill>
                  <a:srgbClr val="243B53"/>
                </a:solidFill>
                <a:latin typeface="Arial"/>
                <a:ea typeface="Arial"/>
                <a:cs typeface="Arial"/>
              </a:defRPr>
            </a:lvl5pPr>
            <a:lvl6pPr>
              <a:defRPr sz="2100" b="0">
                <a:solidFill>
                  <a:srgbClr val="243B53"/>
                </a:solidFill>
                <a:latin typeface="Arial"/>
                <a:ea typeface="Arial"/>
                <a:cs typeface="Arial"/>
              </a:defRPr>
            </a:lvl6pPr>
            <a:lvl7pPr>
              <a:defRPr sz="2100" b="0">
                <a:solidFill>
                  <a:srgbClr val="243B53"/>
                </a:solidFill>
                <a:latin typeface="Arial"/>
                <a:ea typeface="Arial"/>
                <a:cs typeface="Arial"/>
              </a:defRPr>
            </a:lvl7pPr>
            <a:lvl8pPr>
              <a:defRPr sz="2100" b="0">
                <a:solidFill>
                  <a:srgbClr val="243B53"/>
                </a:solidFill>
                <a:latin typeface="Arial"/>
                <a:ea typeface="Arial"/>
                <a:cs typeface="Arial"/>
              </a:defRPr>
            </a:lvl8pPr>
            <a:lvl9pPr>
              <a:defRPr sz="2100" b="0">
                <a:solidFill>
                  <a:srgbClr val="243B53"/>
                </a:solidFill>
                <a:latin typeface="Arial"/>
                <a:ea typeface="Arial"/>
                <a:cs typeface="Arial"/>
              </a:defRPr>
            </a:lvl9pPr>
          </a:lstStyle>
          <a:p xmlns:a="http://schemas.openxmlformats.org/drawingml/2006/main">
            <a:pPr>
              <a:defRPr sz="2100" b="0">
                <a:solidFill>
                  <a:srgbClr val="243B53"/>
                </a:solidFill>
                <a:latin typeface="Arial"/>
                <a:ea typeface="Arial"/>
                <a:cs typeface="Arial"/>
              </a:defRPr>
            </a:pPr>
            <a:r>
              <a:rPr sz="2100" b="0">
                <a:solidFill>
                  <a:srgbClr val="243B53"/>
                </a:solidFill>
                <a:latin typeface="Arial"/>
                <a:ea typeface="Arial"/>
                <a:cs typeface="Arial"/>
              </a:rPr>
              <a:t>Split raw data before learning preprocessing statistics.</a:t>
            </a:r>
          </a:p>
        </p:txBody>
      </p:sp>
      <p:sp>
        <p:nvSpPr>
          <p:cNvPr id="5" name="False alarms">
            <a:extLst xmlns:a="http://schemas.openxmlformats.org/drawingml/2006/main">
              <a:ext uri="{FF2B5EF4-FFF2-40B4-BE49-F238E27FC236}">
                <a16:creationId xmlns:a16="http://schemas.microsoft.com/office/drawing/2014/main" id="{8BECC31C-E8B3-47BD-81C6-05BA7BB6439D}"/>
              </a:ext>
            </a:extLst>
          </p:cNvPr>
          <p:cNvSpPr>
            <a:spLocks xmlns:a="http://schemas.openxmlformats.org/drawingml/2006/main" noGrp="1"/>
          </p:cNvSpPr>
          <p:nvPr/>
        </p:nvSpPr>
        <p:spPr>
          <a:xfrm xmlns:a="http://schemas.openxmlformats.org/drawingml/2006/main">
            <a:off x="762000" y="268605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False alarms</a:t>
            </a:r>
          </a:p>
        </p:txBody>
      </p:sp>
      <p:sp>
        <p:nvSpPr>
          <p:cNvPr id="6" name="Tune thresholds and calibrate probabilitie">
            <a:extLst xmlns:a="http://schemas.openxmlformats.org/drawingml/2006/main">
              <a:ext uri="{FF2B5EF4-FFF2-40B4-BE49-F238E27FC236}">
                <a16:creationId xmlns:a16="http://schemas.microsoft.com/office/drawing/2014/main" id="{428AF4E2-CF00-4AFF-A7DA-898E9A85C6D6}"/>
              </a:ext>
            </a:extLst>
          </p:cNvPr>
          <p:cNvSpPr>
            <a:spLocks xmlns:a="http://schemas.openxmlformats.org/drawingml/2006/main" noGrp="1"/>
          </p:cNvSpPr>
          <p:nvPr/>
        </p:nvSpPr>
        <p:spPr>
          <a:xfrm xmlns:a="http://schemas.openxmlformats.org/drawingml/2006/main">
            <a:off x="3810000" y="2686050"/>
            <a:ext cx="771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53"/>
                </a:solidFill>
                <a:latin typeface="Arial"/>
                <a:ea typeface="Arial"/>
                <a:cs typeface="Arial"/>
              </a:defRPr>
            </a:defPPr>
            <a:lvl1pPr>
              <a:defRPr sz="2100" b="0">
                <a:solidFill>
                  <a:srgbClr val="243B53"/>
                </a:solidFill>
                <a:latin typeface="Arial"/>
                <a:ea typeface="Arial"/>
                <a:cs typeface="Arial"/>
              </a:defRPr>
            </a:lvl1pPr>
            <a:lvl2pPr>
              <a:defRPr sz="2100" b="0">
                <a:solidFill>
                  <a:srgbClr val="243B53"/>
                </a:solidFill>
                <a:latin typeface="Arial"/>
                <a:ea typeface="Arial"/>
                <a:cs typeface="Arial"/>
              </a:defRPr>
            </a:lvl2pPr>
            <a:lvl3pPr>
              <a:defRPr sz="2100" b="0">
                <a:solidFill>
                  <a:srgbClr val="243B53"/>
                </a:solidFill>
                <a:latin typeface="Arial"/>
                <a:ea typeface="Arial"/>
                <a:cs typeface="Arial"/>
              </a:defRPr>
            </a:lvl3pPr>
            <a:lvl4pPr>
              <a:defRPr sz="2100" b="0">
                <a:solidFill>
                  <a:srgbClr val="243B53"/>
                </a:solidFill>
                <a:latin typeface="Arial"/>
                <a:ea typeface="Arial"/>
                <a:cs typeface="Arial"/>
              </a:defRPr>
            </a:lvl4pPr>
            <a:lvl5pPr>
              <a:defRPr sz="2100" b="0">
                <a:solidFill>
                  <a:srgbClr val="243B53"/>
                </a:solidFill>
                <a:latin typeface="Arial"/>
                <a:ea typeface="Arial"/>
                <a:cs typeface="Arial"/>
              </a:defRPr>
            </a:lvl5pPr>
            <a:lvl6pPr>
              <a:defRPr sz="2100" b="0">
                <a:solidFill>
                  <a:srgbClr val="243B53"/>
                </a:solidFill>
                <a:latin typeface="Arial"/>
                <a:ea typeface="Arial"/>
                <a:cs typeface="Arial"/>
              </a:defRPr>
            </a:lvl6pPr>
            <a:lvl7pPr>
              <a:defRPr sz="2100" b="0">
                <a:solidFill>
                  <a:srgbClr val="243B53"/>
                </a:solidFill>
                <a:latin typeface="Arial"/>
                <a:ea typeface="Arial"/>
                <a:cs typeface="Arial"/>
              </a:defRPr>
            </a:lvl7pPr>
            <a:lvl8pPr>
              <a:defRPr sz="2100" b="0">
                <a:solidFill>
                  <a:srgbClr val="243B53"/>
                </a:solidFill>
                <a:latin typeface="Arial"/>
                <a:ea typeface="Arial"/>
                <a:cs typeface="Arial"/>
              </a:defRPr>
            </a:lvl8pPr>
            <a:lvl9pPr>
              <a:defRPr sz="2100" b="0">
                <a:solidFill>
                  <a:srgbClr val="243B53"/>
                </a:solidFill>
                <a:latin typeface="Arial"/>
                <a:ea typeface="Arial"/>
                <a:cs typeface="Arial"/>
              </a:defRPr>
            </a:lvl9pPr>
          </a:lstStyle>
          <a:p xmlns:a="http://schemas.openxmlformats.org/drawingml/2006/main">
            <a:pPr>
              <a:defRPr sz="2100" b="0">
                <a:solidFill>
                  <a:srgbClr val="243B53"/>
                </a:solidFill>
                <a:latin typeface="Arial"/>
                <a:ea typeface="Arial"/>
                <a:cs typeface="Arial"/>
              </a:defRPr>
            </a:pPr>
            <a:r>
              <a:rPr sz="2100" b="0">
                <a:solidFill>
                  <a:srgbClr val="243B53"/>
                </a:solidFill>
                <a:latin typeface="Arial"/>
                <a:ea typeface="Arial"/>
                <a:cs typeface="Arial"/>
              </a:rPr>
              <a:t>Tune thresholds and calibrate probabilities.</a:t>
            </a:r>
          </a:p>
        </p:txBody>
      </p:sp>
      <p:sp>
        <p:nvSpPr>
          <p:cNvPr id="7" name="Model choice">
            <a:extLst xmlns:a="http://schemas.openxmlformats.org/drawingml/2006/main">
              <a:ext uri="{FF2B5EF4-FFF2-40B4-BE49-F238E27FC236}">
                <a16:creationId xmlns:a16="http://schemas.microsoft.com/office/drawing/2014/main" id="{A1BE876B-6872-4339-AD61-F6749E43FEF3}"/>
              </a:ext>
            </a:extLst>
          </p:cNvPr>
          <p:cNvSpPr>
            <a:spLocks xmlns:a="http://schemas.openxmlformats.org/drawingml/2006/main" noGrp="1"/>
          </p:cNvSpPr>
          <p:nvPr/>
        </p:nvSpPr>
        <p:spPr>
          <a:xfrm xmlns:a="http://schemas.openxmlformats.org/drawingml/2006/main">
            <a:off x="762000" y="375285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Model choice</a:t>
            </a:r>
          </a:p>
        </p:txBody>
      </p:sp>
      <p:sp>
        <p:nvSpPr>
          <p:cNvPr id="8" name="Compare logistic regression and tree-based">
            <a:extLst xmlns:a="http://schemas.openxmlformats.org/drawingml/2006/main">
              <a:ext uri="{FF2B5EF4-FFF2-40B4-BE49-F238E27FC236}">
                <a16:creationId xmlns:a16="http://schemas.microsoft.com/office/drawing/2014/main" id="{1D6E5899-45C9-4CFD-9CF3-FDE857C27DC6}"/>
              </a:ext>
            </a:extLst>
          </p:cNvPr>
          <p:cNvSpPr>
            <a:spLocks xmlns:a="http://schemas.openxmlformats.org/drawingml/2006/main" noGrp="1"/>
          </p:cNvSpPr>
          <p:nvPr/>
        </p:nvSpPr>
        <p:spPr>
          <a:xfrm xmlns:a="http://schemas.openxmlformats.org/drawingml/2006/main">
            <a:off x="3810000" y="3752850"/>
            <a:ext cx="771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53"/>
                </a:solidFill>
                <a:latin typeface="Arial"/>
                <a:ea typeface="Arial"/>
                <a:cs typeface="Arial"/>
              </a:defRPr>
            </a:defPPr>
            <a:lvl1pPr>
              <a:defRPr sz="2100" b="0">
                <a:solidFill>
                  <a:srgbClr val="243B53"/>
                </a:solidFill>
                <a:latin typeface="Arial"/>
                <a:ea typeface="Arial"/>
                <a:cs typeface="Arial"/>
              </a:defRPr>
            </a:lvl1pPr>
            <a:lvl2pPr>
              <a:defRPr sz="2100" b="0">
                <a:solidFill>
                  <a:srgbClr val="243B53"/>
                </a:solidFill>
                <a:latin typeface="Arial"/>
                <a:ea typeface="Arial"/>
                <a:cs typeface="Arial"/>
              </a:defRPr>
            </a:lvl2pPr>
            <a:lvl3pPr>
              <a:defRPr sz="2100" b="0">
                <a:solidFill>
                  <a:srgbClr val="243B53"/>
                </a:solidFill>
                <a:latin typeface="Arial"/>
                <a:ea typeface="Arial"/>
                <a:cs typeface="Arial"/>
              </a:defRPr>
            </a:lvl3pPr>
            <a:lvl4pPr>
              <a:defRPr sz="2100" b="0">
                <a:solidFill>
                  <a:srgbClr val="243B53"/>
                </a:solidFill>
                <a:latin typeface="Arial"/>
                <a:ea typeface="Arial"/>
                <a:cs typeface="Arial"/>
              </a:defRPr>
            </a:lvl4pPr>
            <a:lvl5pPr>
              <a:defRPr sz="2100" b="0">
                <a:solidFill>
                  <a:srgbClr val="243B53"/>
                </a:solidFill>
                <a:latin typeface="Arial"/>
                <a:ea typeface="Arial"/>
                <a:cs typeface="Arial"/>
              </a:defRPr>
            </a:lvl5pPr>
            <a:lvl6pPr>
              <a:defRPr sz="2100" b="0">
                <a:solidFill>
                  <a:srgbClr val="243B53"/>
                </a:solidFill>
                <a:latin typeface="Arial"/>
                <a:ea typeface="Arial"/>
                <a:cs typeface="Arial"/>
              </a:defRPr>
            </a:lvl6pPr>
            <a:lvl7pPr>
              <a:defRPr sz="2100" b="0">
                <a:solidFill>
                  <a:srgbClr val="243B53"/>
                </a:solidFill>
                <a:latin typeface="Arial"/>
                <a:ea typeface="Arial"/>
                <a:cs typeface="Arial"/>
              </a:defRPr>
            </a:lvl7pPr>
            <a:lvl8pPr>
              <a:defRPr sz="2100" b="0">
                <a:solidFill>
                  <a:srgbClr val="243B53"/>
                </a:solidFill>
                <a:latin typeface="Arial"/>
                <a:ea typeface="Arial"/>
                <a:cs typeface="Arial"/>
              </a:defRPr>
            </a:lvl8pPr>
            <a:lvl9pPr>
              <a:defRPr sz="2100" b="0">
                <a:solidFill>
                  <a:srgbClr val="243B53"/>
                </a:solidFill>
                <a:latin typeface="Arial"/>
                <a:ea typeface="Arial"/>
                <a:cs typeface="Arial"/>
              </a:defRPr>
            </a:lvl9pPr>
          </a:lstStyle>
          <a:p xmlns:a="http://schemas.openxmlformats.org/drawingml/2006/main">
            <a:pPr>
              <a:defRPr sz="2100" b="0">
                <a:solidFill>
                  <a:srgbClr val="243B53"/>
                </a:solidFill>
                <a:latin typeface="Arial"/>
                <a:ea typeface="Arial"/>
                <a:cs typeface="Arial"/>
              </a:defRPr>
            </a:pPr>
            <a:r>
              <a:rPr sz="2100" b="0">
                <a:solidFill>
                  <a:srgbClr val="243B53"/>
                </a:solidFill>
                <a:latin typeface="Arial"/>
                <a:ea typeface="Arial"/>
                <a:cs typeface="Arial"/>
              </a:rPr>
              <a:t>Compare logistic regression and tree-based models.</a:t>
            </a:r>
          </a:p>
        </p:txBody>
      </p:sp>
      <p:sp>
        <p:nvSpPr>
          <p:cNvPr id="9" name="Explanations">
            <a:extLst xmlns:a="http://schemas.openxmlformats.org/drawingml/2006/main">
              <a:ext uri="{FF2B5EF4-FFF2-40B4-BE49-F238E27FC236}">
                <a16:creationId xmlns:a16="http://schemas.microsoft.com/office/drawing/2014/main" id="{C1C37F34-949A-4CD9-9AAB-C63E96AFF885}"/>
              </a:ext>
            </a:extLst>
          </p:cNvPr>
          <p:cNvSpPr>
            <a:spLocks xmlns:a="http://schemas.openxmlformats.org/drawingml/2006/main" noGrp="1"/>
          </p:cNvSpPr>
          <p:nvPr/>
        </p:nvSpPr>
        <p:spPr>
          <a:xfrm xmlns:a="http://schemas.openxmlformats.org/drawingml/2006/main">
            <a:off x="762000" y="4819650"/>
            <a:ext cx="295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Explanations</a:t>
            </a:r>
          </a:p>
        </p:txBody>
      </p:sp>
      <p:sp>
        <p:nvSpPr>
          <p:cNvPr id="10" name="Add model-specific analysis beyond rules a">
            <a:extLst xmlns:a="http://schemas.openxmlformats.org/drawingml/2006/main">
              <a:ext uri="{FF2B5EF4-FFF2-40B4-BE49-F238E27FC236}">
                <a16:creationId xmlns:a16="http://schemas.microsoft.com/office/drawing/2014/main" id="{6693E618-3910-4BB6-B472-60E6061BDC42}"/>
              </a:ext>
            </a:extLst>
          </p:cNvPr>
          <p:cNvSpPr>
            <a:spLocks xmlns:a="http://schemas.openxmlformats.org/drawingml/2006/main" noGrp="1"/>
          </p:cNvSpPr>
          <p:nvPr/>
        </p:nvSpPr>
        <p:spPr>
          <a:xfrm xmlns:a="http://schemas.openxmlformats.org/drawingml/2006/main">
            <a:off x="3810000" y="4819650"/>
            <a:ext cx="771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B53"/>
                </a:solidFill>
                <a:latin typeface="Arial"/>
                <a:ea typeface="Arial"/>
                <a:cs typeface="Arial"/>
              </a:defRPr>
            </a:defPPr>
            <a:lvl1pPr>
              <a:defRPr sz="2100" b="0">
                <a:solidFill>
                  <a:srgbClr val="243B53"/>
                </a:solidFill>
                <a:latin typeface="Arial"/>
                <a:ea typeface="Arial"/>
                <a:cs typeface="Arial"/>
              </a:defRPr>
            </a:lvl1pPr>
            <a:lvl2pPr>
              <a:defRPr sz="2100" b="0">
                <a:solidFill>
                  <a:srgbClr val="243B53"/>
                </a:solidFill>
                <a:latin typeface="Arial"/>
                <a:ea typeface="Arial"/>
                <a:cs typeface="Arial"/>
              </a:defRPr>
            </a:lvl2pPr>
            <a:lvl3pPr>
              <a:defRPr sz="2100" b="0">
                <a:solidFill>
                  <a:srgbClr val="243B53"/>
                </a:solidFill>
                <a:latin typeface="Arial"/>
                <a:ea typeface="Arial"/>
                <a:cs typeface="Arial"/>
              </a:defRPr>
            </a:lvl3pPr>
            <a:lvl4pPr>
              <a:defRPr sz="2100" b="0">
                <a:solidFill>
                  <a:srgbClr val="243B53"/>
                </a:solidFill>
                <a:latin typeface="Arial"/>
                <a:ea typeface="Arial"/>
                <a:cs typeface="Arial"/>
              </a:defRPr>
            </a:lvl4pPr>
            <a:lvl5pPr>
              <a:defRPr sz="2100" b="0">
                <a:solidFill>
                  <a:srgbClr val="243B53"/>
                </a:solidFill>
                <a:latin typeface="Arial"/>
                <a:ea typeface="Arial"/>
                <a:cs typeface="Arial"/>
              </a:defRPr>
            </a:lvl5pPr>
            <a:lvl6pPr>
              <a:defRPr sz="2100" b="0">
                <a:solidFill>
                  <a:srgbClr val="243B53"/>
                </a:solidFill>
                <a:latin typeface="Arial"/>
                <a:ea typeface="Arial"/>
                <a:cs typeface="Arial"/>
              </a:defRPr>
            </a:lvl6pPr>
            <a:lvl7pPr>
              <a:defRPr sz="2100" b="0">
                <a:solidFill>
                  <a:srgbClr val="243B53"/>
                </a:solidFill>
                <a:latin typeface="Arial"/>
                <a:ea typeface="Arial"/>
                <a:cs typeface="Arial"/>
              </a:defRPr>
            </a:lvl7pPr>
            <a:lvl8pPr>
              <a:defRPr sz="2100" b="0">
                <a:solidFill>
                  <a:srgbClr val="243B53"/>
                </a:solidFill>
                <a:latin typeface="Arial"/>
                <a:ea typeface="Arial"/>
                <a:cs typeface="Arial"/>
              </a:defRPr>
            </a:lvl8pPr>
            <a:lvl9pPr>
              <a:defRPr sz="2100" b="0">
                <a:solidFill>
                  <a:srgbClr val="243B53"/>
                </a:solidFill>
                <a:latin typeface="Arial"/>
                <a:ea typeface="Arial"/>
                <a:cs typeface="Arial"/>
              </a:defRPr>
            </a:lvl9pPr>
          </a:lstStyle>
          <a:p xmlns:a="http://schemas.openxmlformats.org/drawingml/2006/main">
            <a:pPr>
              <a:defRPr sz="2100" b="0">
                <a:solidFill>
                  <a:srgbClr val="243B53"/>
                </a:solidFill>
                <a:latin typeface="Arial"/>
                <a:ea typeface="Arial"/>
                <a:cs typeface="Arial"/>
              </a:defRPr>
            </a:pPr>
            <a:r>
              <a:rPr sz="2100" b="0">
                <a:solidFill>
                  <a:srgbClr val="243B53"/>
                </a:solidFill>
                <a:latin typeface="Arial"/>
                <a:ea typeface="Arial"/>
                <a:cs typeface="Arial"/>
              </a:rPr>
              <a:t>Add model-specific analysis beyond rules and correlations.</a:t>
            </a:r>
          </a:p>
        </p:txBody>
      </p:sp>
      <p:sp>
        <p:nvSpPr>
          <p:cNvPr id="11" name="Current median uses all data; scaler fitti">
            <a:extLst xmlns:a="http://schemas.openxmlformats.org/drawingml/2006/main">
              <a:ext uri="{FF2B5EF4-FFF2-40B4-BE49-F238E27FC236}">
                <a16:creationId xmlns:a16="http://schemas.microsoft.com/office/drawing/2014/main" id="{4E287421-59E6-4783-8DC7-A2D104786A37}"/>
              </a:ext>
            </a:extLst>
          </p:cNvPr>
          <p:cNvSpPr>
            <a:spLocks xmlns:a="http://schemas.openxmlformats.org/drawingml/2006/main" noGrp="1"/>
          </p:cNvSpPr>
          <p:nvPr/>
        </p:nvSpPr>
        <p:spPr>
          <a:xfrm xmlns:a="http://schemas.openxmlformats.org/drawingml/2006/main">
            <a:off x="685800" y="5915025"/>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B"/>
                </a:solidFill>
                <a:latin typeface="Arial"/>
                <a:ea typeface="Arial"/>
                <a:cs typeface="Arial"/>
              </a:defRPr>
            </a:defPPr>
            <a:lvl1pPr>
              <a:defRPr sz="1725" b="0">
                <a:solidFill>
                  <a:srgbClr val="53657B"/>
                </a:solidFill>
                <a:latin typeface="Arial"/>
                <a:ea typeface="Arial"/>
                <a:cs typeface="Arial"/>
              </a:defRPr>
            </a:lvl1pPr>
            <a:lvl2pPr>
              <a:defRPr sz="1725" b="0">
                <a:solidFill>
                  <a:srgbClr val="53657B"/>
                </a:solidFill>
                <a:latin typeface="Arial"/>
                <a:ea typeface="Arial"/>
                <a:cs typeface="Arial"/>
              </a:defRPr>
            </a:lvl2pPr>
            <a:lvl3pPr>
              <a:defRPr sz="1725" b="0">
                <a:solidFill>
                  <a:srgbClr val="53657B"/>
                </a:solidFill>
                <a:latin typeface="Arial"/>
                <a:ea typeface="Arial"/>
                <a:cs typeface="Arial"/>
              </a:defRPr>
            </a:lvl3pPr>
            <a:lvl4pPr>
              <a:defRPr sz="1725" b="0">
                <a:solidFill>
                  <a:srgbClr val="53657B"/>
                </a:solidFill>
                <a:latin typeface="Arial"/>
                <a:ea typeface="Arial"/>
                <a:cs typeface="Arial"/>
              </a:defRPr>
            </a:lvl4pPr>
            <a:lvl5pPr>
              <a:defRPr sz="1725" b="0">
                <a:solidFill>
                  <a:srgbClr val="53657B"/>
                </a:solidFill>
                <a:latin typeface="Arial"/>
                <a:ea typeface="Arial"/>
                <a:cs typeface="Arial"/>
              </a:defRPr>
            </a:lvl5pPr>
            <a:lvl6pPr>
              <a:defRPr sz="1725" b="0">
                <a:solidFill>
                  <a:srgbClr val="53657B"/>
                </a:solidFill>
                <a:latin typeface="Arial"/>
                <a:ea typeface="Arial"/>
                <a:cs typeface="Arial"/>
              </a:defRPr>
            </a:lvl6pPr>
            <a:lvl7pPr>
              <a:defRPr sz="1725" b="0">
                <a:solidFill>
                  <a:srgbClr val="53657B"/>
                </a:solidFill>
                <a:latin typeface="Arial"/>
                <a:ea typeface="Arial"/>
                <a:cs typeface="Arial"/>
              </a:defRPr>
            </a:lvl7pPr>
            <a:lvl8pPr>
              <a:defRPr sz="1725" b="0">
                <a:solidFill>
                  <a:srgbClr val="53657B"/>
                </a:solidFill>
                <a:latin typeface="Arial"/>
                <a:ea typeface="Arial"/>
                <a:cs typeface="Arial"/>
              </a:defRPr>
            </a:lvl8pPr>
            <a:lvl9pPr>
              <a:defRPr sz="1725" b="0">
                <a:solidFill>
                  <a:srgbClr val="53657B"/>
                </a:solidFill>
                <a:latin typeface="Arial"/>
                <a:ea typeface="Arial"/>
                <a:cs typeface="Arial"/>
              </a:defRPr>
            </a:lvl9pPr>
          </a:lstStyle>
          <a:p xmlns:a="http://schemas.openxmlformats.org/drawingml/2006/main">
            <a:pPr>
              <a:defRPr sz="1725" b="0">
                <a:solidFill>
                  <a:srgbClr val="53657B"/>
                </a:solidFill>
                <a:latin typeface="Arial"/>
                <a:ea typeface="Arial"/>
                <a:cs typeface="Arial"/>
              </a:defRPr>
            </a:pPr>
            <a:r>
              <a:rPr sz="1725" b="0">
                <a:solidFill>
                  <a:srgbClr val="53657B"/>
                </a:solidFill>
                <a:latin typeface="Arial"/>
                <a:ea typeface="Arial"/>
                <a:cs typeface="Arial"/>
              </a:rPr>
              <a:t>Current median uses all data; scaler fitting also includes validation rows.</a:t>
            </a:r>
          </a:p>
        </p:txBody>
      </p:sp>
    </p:spTree>
    <p:extLst>
      <p:ext uri="{BB962C8B-B14F-4D97-AF65-F5344CB8AC3E}">
        <p14:creationId xmlns:p14="http://schemas.microsoft.com/office/powerpoint/2010/main" val="1463564464"/>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Project summary">
            <a:extLst xmlns:a="http://schemas.openxmlformats.org/drawingml/2006/main">
              <a:ext uri="{FF2B5EF4-FFF2-40B4-BE49-F238E27FC236}">
                <a16:creationId xmlns:a16="http://schemas.microsoft.com/office/drawing/2014/main" id="{F824DC54-3955-4B50-9669-D292926C6A17}"/>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43A"/>
                </a:solidFill>
                <a:latin typeface="Arial"/>
                <a:ea typeface="Arial"/>
                <a:cs typeface="Arial"/>
              </a:defRPr>
            </a:defPPr>
            <a:lvl1pPr>
              <a:defRPr sz="3300" b="1">
                <a:solidFill>
                  <a:srgbClr val="10243A"/>
                </a:solidFill>
                <a:latin typeface="Arial"/>
                <a:ea typeface="Arial"/>
                <a:cs typeface="Arial"/>
              </a:defRPr>
            </a:lvl1pPr>
            <a:lvl2pPr>
              <a:defRPr sz="3300" b="1">
                <a:solidFill>
                  <a:srgbClr val="10243A"/>
                </a:solidFill>
                <a:latin typeface="Arial"/>
                <a:ea typeface="Arial"/>
                <a:cs typeface="Arial"/>
              </a:defRPr>
            </a:lvl2pPr>
            <a:lvl3pPr>
              <a:defRPr sz="3300" b="1">
                <a:solidFill>
                  <a:srgbClr val="10243A"/>
                </a:solidFill>
                <a:latin typeface="Arial"/>
                <a:ea typeface="Arial"/>
                <a:cs typeface="Arial"/>
              </a:defRPr>
            </a:lvl3pPr>
            <a:lvl4pPr>
              <a:defRPr sz="3300" b="1">
                <a:solidFill>
                  <a:srgbClr val="10243A"/>
                </a:solidFill>
                <a:latin typeface="Arial"/>
                <a:ea typeface="Arial"/>
                <a:cs typeface="Arial"/>
              </a:defRPr>
            </a:lvl4pPr>
            <a:lvl5pPr>
              <a:defRPr sz="3300" b="1">
                <a:solidFill>
                  <a:srgbClr val="10243A"/>
                </a:solidFill>
                <a:latin typeface="Arial"/>
                <a:ea typeface="Arial"/>
                <a:cs typeface="Arial"/>
              </a:defRPr>
            </a:lvl5pPr>
            <a:lvl6pPr>
              <a:defRPr sz="3300" b="1">
                <a:solidFill>
                  <a:srgbClr val="10243A"/>
                </a:solidFill>
                <a:latin typeface="Arial"/>
                <a:ea typeface="Arial"/>
                <a:cs typeface="Arial"/>
              </a:defRPr>
            </a:lvl6pPr>
            <a:lvl7pPr>
              <a:defRPr sz="3300" b="1">
                <a:solidFill>
                  <a:srgbClr val="10243A"/>
                </a:solidFill>
                <a:latin typeface="Arial"/>
                <a:ea typeface="Arial"/>
                <a:cs typeface="Arial"/>
              </a:defRPr>
            </a:lvl7pPr>
            <a:lvl8pPr>
              <a:defRPr sz="3300" b="1">
                <a:solidFill>
                  <a:srgbClr val="10243A"/>
                </a:solidFill>
                <a:latin typeface="Arial"/>
                <a:ea typeface="Arial"/>
                <a:cs typeface="Arial"/>
              </a:defRPr>
            </a:lvl8pPr>
            <a:lvl9pPr>
              <a:defRPr sz="3300" b="1">
                <a:solidFill>
                  <a:srgbClr val="10243A"/>
                </a:solidFill>
                <a:latin typeface="Arial"/>
                <a:ea typeface="Arial"/>
                <a:cs typeface="Arial"/>
              </a:defRPr>
            </a:lvl9pPr>
          </a:lstStyle>
          <a:p xmlns:a="http://schemas.openxmlformats.org/drawingml/2006/main">
            <a:pPr>
              <a:defRPr sz="3300" b="1">
                <a:solidFill>
                  <a:srgbClr val="10243A"/>
                </a:solidFill>
                <a:latin typeface="Arial"/>
                <a:ea typeface="Arial"/>
                <a:cs typeface="Arial"/>
              </a:defRPr>
            </a:pPr>
            <a:r>
              <a:rPr sz="3300" b="1">
                <a:solidFill>
                  <a:srgbClr val="10243A"/>
                </a:solidFill>
                <a:latin typeface="Arial"/>
                <a:ea typeface="Arial"/>
                <a:cs typeface="Arial"/>
              </a:rPr>
              <a:t>Project summary</a:t>
            </a:r>
          </a:p>
        </p:txBody>
      </p:sp>
      <p:sp>
        <p:nvSpPr>
          <p:cNvPr id="2" name="18">
            <a:extLst xmlns:a="http://schemas.openxmlformats.org/drawingml/2006/main">
              <a:ext uri="{FF2B5EF4-FFF2-40B4-BE49-F238E27FC236}">
                <a16:creationId xmlns:a16="http://schemas.microsoft.com/office/drawing/2014/main" id="{28C102C9-D5BF-47F0-A93F-81FFF333BFFB}"/>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57B"/>
                </a:solidFill>
                <a:latin typeface="Arial"/>
                <a:ea typeface="Arial"/>
                <a:cs typeface="Arial"/>
              </a:defRPr>
            </a:defPPr>
            <a:lvl1pPr>
              <a:defRPr sz="1275" b="0">
                <a:solidFill>
                  <a:srgbClr val="53657B"/>
                </a:solidFill>
                <a:latin typeface="Arial"/>
                <a:ea typeface="Arial"/>
                <a:cs typeface="Arial"/>
              </a:defRPr>
            </a:lvl1pPr>
            <a:lvl2pPr>
              <a:defRPr sz="1275" b="0">
                <a:solidFill>
                  <a:srgbClr val="53657B"/>
                </a:solidFill>
                <a:latin typeface="Arial"/>
                <a:ea typeface="Arial"/>
                <a:cs typeface="Arial"/>
              </a:defRPr>
            </a:lvl2pPr>
            <a:lvl3pPr>
              <a:defRPr sz="1275" b="0">
                <a:solidFill>
                  <a:srgbClr val="53657B"/>
                </a:solidFill>
                <a:latin typeface="Arial"/>
                <a:ea typeface="Arial"/>
                <a:cs typeface="Arial"/>
              </a:defRPr>
            </a:lvl3pPr>
            <a:lvl4pPr>
              <a:defRPr sz="1275" b="0">
                <a:solidFill>
                  <a:srgbClr val="53657B"/>
                </a:solidFill>
                <a:latin typeface="Arial"/>
                <a:ea typeface="Arial"/>
                <a:cs typeface="Arial"/>
              </a:defRPr>
            </a:lvl4pPr>
            <a:lvl5pPr>
              <a:defRPr sz="1275" b="0">
                <a:solidFill>
                  <a:srgbClr val="53657B"/>
                </a:solidFill>
                <a:latin typeface="Arial"/>
                <a:ea typeface="Arial"/>
                <a:cs typeface="Arial"/>
              </a:defRPr>
            </a:lvl5pPr>
            <a:lvl6pPr>
              <a:defRPr sz="1275" b="0">
                <a:solidFill>
                  <a:srgbClr val="53657B"/>
                </a:solidFill>
                <a:latin typeface="Arial"/>
                <a:ea typeface="Arial"/>
                <a:cs typeface="Arial"/>
              </a:defRPr>
            </a:lvl6pPr>
            <a:lvl7pPr>
              <a:defRPr sz="1275" b="0">
                <a:solidFill>
                  <a:srgbClr val="53657B"/>
                </a:solidFill>
                <a:latin typeface="Arial"/>
                <a:ea typeface="Arial"/>
                <a:cs typeface="Arial"/>
              </a:defRPr>
            </a:lvl7pPr>
            <a:lvl8pPr>
              <a:defRPr sz="1275" b="0">
                <a:solidFill>
                  <a:srgbClr val="53657B"/>
                </a:solidFill>
                <a:latin typeface="Arial"/>
                <a:ea typeface="Arial"/>
                <a:cs typeface="Arial"/>
              </a:defRPr>
            </a:lvl8pPr>
            <a:lvl9pPr>
              <a:defRPr sz="1275" b="0">
                <a:solidFill>
                  <a:srgbClr val="53657B"/>
                </a:solidFill>
                <a:latin typeface="Arial"/>
                <a:ea typeface="Arial"/>
                <a:cs typeface="Arial"/>
              </a:defRPr>
            </a:lvl9pPr>
          </a:lstStyle>
          <a:p xmlns:a="http://schemas.openxmlformats.org/drawingml/2006/main">
            <a:pPr>
              <a:defRPr sz="1275" b="0">
                <a:solidFill>
                  <a:srgbClr val="53657B"/>
                </a:solidFill>
                <a:latin typeface="Arial"/>
                <a:ea typeface="Arial"/>
                <a:cs typeface="Arial"/>
              </a:defRPr>
            </a:pPr>
            <a:r>
              <a:rPr sz="1275" b="0">
                <a:solidFill>
                  <a:srgbClr val="53657B"/>
                </a:solidFill>
                <a:latin typeface="Arial"/>
                <a:ea typeface="Arial"/>
                <a:cs typeface="Arial"/>
              </a:rPr>
              <a:t>18</a:t>
            </a:r>
          </a:p>
        </p:txBody>
      </p:sp>
      <p:sp>
        <p:nvSpPr>
          <p:cNvPr id="3" name="An end-to-end classification application">
            <a:extLst xmlns:a="http://schemas.openxmlformats.org/drawingml/2006/main">
              <a:ext uri="{FF2B5EF4-FFF2-40B4-BE49-F238E27FC236}">
                <a16:creationId xmlns:a16="http://schemas.microsoft.com/office/drawing/2014/main" id="{3E76FCD6-10BC-4ED3-97D4-CCAD3FF7E12E}"/>
              </a:ext>
            </a:extLst>
          </p:cNvPr>
          <p:cNvSpPr>
            <a:spLocks xmlns:a="http://schemas.openxmlformats.org/drawingml/2006/main" noGrp="1"/>
          </p:cNvSpPr>
          <p:nvPr/>
        </p:nvSpPr>
        <p:spPr>
          <a:xfrm xmlns:a="http://schemas.openxmlformats.org/drawingml/2006/main">
            <a:off x="762000" y="16764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E8B"/>
                </a:solidFill>
                <a:latin typeface="Arial"/>
                <a:ea typeface="Arial"/>
                <a:cs typeface="Arial"/>
              </a:defRPr>
            </a:defPPr>
            <a:lvl1pPr>
              <a:defRPr sz="2700" b="1">
                <a:solidFill>
                  <a:srgbClr val="087E8B"/>
                </a:solidFill>
                <a:latin typeface="Arial"/>
                <a:ea typeface="Arial"/>
                <a:cs typeface="Arial"/>
              </a:defRPr>
            </a:lvl1pPr>
            <a:lvl2pPr>
              <a:defRPr sz="2700" b="1">
                <a:solidFill>
                  <a:srgbClr val="087E8B"/>
                </a:solidFill>
                <a:latin typeface="Arial"/>
                <a:ea typeface="Arial"/>
                <a:cs typeface="Arial"/>
              </a:defRPr>
            </a:lvl2pPr>
            <a:lvl3pPr>
              <a:defRPr sz="2700" b="1">
                <a:solidFill>
                  <a:srgbClr val="087E8B"/>
                </a:solidFill>
                <a:latin typeface="Arial"/>
                <a:ea typeface="Arial"/>
                <a:cs typeface="Arial"/>
              </a:defRPr>
            </a:lvl3pPr>
            <a:lvl4pPr>
              <a:defRPr sz="2700" b="1">
                <a:solidFill>
                  <a:srgbClr val="087E8B"/>
                </a:solidFill>
                <a:latin typeface="Arial"/>
                <a:ea typeface="Arial"/>
                <a:cs typeface="Arial"/>
              </a:defRPr>
            </a:lvl4pPr>
            <a:lvl5pPr>
              <a:defRPr sz="2700" b="1">
                <a:solidFill>
                  <a:srgbClr val="087E8B"/>
                </a:solidFill>
                <a:latin typeface="Arial"/>
                <a:ea typeface="Arial"/>
                <a:cs typeface="Arial"/>
              </a:defRPr>
            </a:lvl5pPr>
            <a:lvl6pPr>
              <a:defRPr sz="2700" b="1">
                <a:solidFill>
                  <a:srgbClr val="087E8B"/>
                </a:solidFill>
                <a:latin typeface="Arial"/>
                <a:ea typeface="Arial"/>
                <a:cs typeface="Arial"/>
              </a:defRPr>
            </a:lvl6pPr>
            <a:lvl7pPr>
              <a:defRPr sz="2700" b="1">
                <a:solidFill>
                  <a:srgbClr val="087E8B"/>
                </a:solidFill>
                <a:latin typeface="Arial"/>
                <a:ea typeface="Arial"/>
                <a:cs typeface="Arial"/>
              </a:defRPr>
            </a:lvl7pPr>
            <a:lvl8pPr>
              <a:defRPr sz="2700" b="1">
                <a:solidFill>
                  <a:srgbClr val="087E8B"/>
                </a:solidFill>
                <a:latin typeface="Arial"/>
                <a:ea typeface="Arial"/>
                <a:cs typeface="Arial"/>
              </a:defRPr>
            </a:lvl8pPr>
            <a:lvl9pPr>
              <a:defRPr sz="2700" b="1">
                <a:solidFill>
                  <a:srgbClr val="087E8B"/>
                </a:solidFill>
                <a:latin typeface="Arial"/>
                <a:ea typeface="Arial"/>
                <a:cs typeface="Arial"/>
              </a:defRPr>
            </a:lvl9pPr>
          </a:lstStyle>
          <a:p xmlns:a="http://schemas.openxmlformats.org/drawingml/2006/main">
            <a:pPr>
              <a:defRPr sz="2700" b="1">
                <a:solidFill>
                  <a:srgbClr val="087E8B"/>
                </a:solidFill>
                <a:latin typeface="Arial"/>
                <a:ea typeface="Arial"/>
                <a:cs typeface="Arial"/>
              </a:defRPr>
            </a:pPr>
            <a:r>
              <a:rPr sz="2700" b="1">
                <a:solidFill>
                  <a:srgbClr val="087E8B"/>
                </a:solidFill>
                <a:latin typeface="Arial"/>
                <a:ea typeface="Arial"/>
                <a:cs typeface="Arial"/>
              </a:rPr>
              <a:t>An end-to-end classification application</a:t>
            </a:r>
          </a:p>
        </p:txBody>
      </p:sp>
      <p:sp>
        <p:nvSpPr>
          <p:cNvPr id="4" name="Historical data, engineered features, and ">
            <a:extLst xmlns:a="http://schemas.openxmlformats.org/drawingml/2006/main">
              <a:ext uri="{FF2B5EF4-FFF2-40B4-BE49-F238E27FC236}">
                <a16:creationId xmlns:a16="http://schemas.microsoft.com/office/drawing/2014/main" id="{F72EFB25-4743-45E7-87D0-8DDC1E480770}"/>
              </a:ext>
            </a:extLst>
          </p:cNvPr>
          <p:cNvSpPr>
            <a:spLocks xmlns:a="http://schemas.openxmlformats.org/drawingml/2006/main" noGrp="1"/>
          </p:cNvSpPr>
          <p:nvPr/>
        </p:nvSpPr>
        <p:spPr>
          <a:xfrm xmlns:a="http://schemas.openxmlformats.org/drawingml/2006/main">
            <a:off x="762000" y="2609850"/>
            <a:ext cx="10668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latin typeface="Arial"/>
                <a:ea typeface="Arial"/>
                <a:cs typeface="Arial"/>
              </a:defRPr>
            </a:defPPr>
            <a:lvl1pPr>
              <a:defRPr sz="2325" b="0">
                <a:solidFill>
                  <a:srgbClr val="243B53"/>
                </a:solidFill>
                <a:latin typeface="Arial"/>
                <a:ea typeface="Arial"/>
                <a:cs typeface="Arial"/>
              </a:defRPr>
            </a:lvl1pPr>
            <a:lvl2pPr>
              <a:defRPr sz="2325" b="0">
                <a:solidFill>
                  <a:srgbClr val="243B53"/>
                </a:solidFill>
                <a:latin typeface="Arial"/>
                <a:ea typeface="Arial"/>
                <a:cs typeface="Arial"/>
              </a:defRPr>
            </a:lvl2pPr>
            <a:lvl3pPr>
              <a:defRPr sz="2325" b="0">
                <a:solidFill>
                  <a:srgbClr val="243B53"/>
                </a:solidFill>
                <a:latin typeface="Arial"/>
                <a:ea typeface="Arial"/>
                <a:cs typeface="Arial"/>
              </a:defRPr>
            </a:lvl3pPr>
            <a:lvl4pPr>
              <a:defRPr sz="2325" b="0">
                <a:solidFill>
                  <a:srgbClr val="243B53"/>
                </a:solidFill>
                <a:latin typeface="Arial"/>
                <a:ea typeface="Arial"/>
                <a:cs typeface="Arial"/>
              </a:defRPr>
            </a:lvl4pPr>
            <a:lvl5pPr>
              <a:defRPr sz="2325" b="0">
                <a:solidFill>
                  <a:srgbClr val="243B53"/>
                </a:solidFill>
                <a:latin typeface="Arial"/>
                <a:ea typeface="Arial"/>
                <a:cs typeface="Arial"/>
              </a:defRPr>
            </a:lvl5pPr>
            <a:lvl6pPr>
              <a:defRPr sz="2325" b="0">
                <a:solidFill>
                  <a:srgbClr val="243B53"/>
                </a:solidFill>
                <a:latin typeface="Arial"/>
                <a:ea typeface="Arial"/>
                <a:cs typeface="Arial"/>
              </a:defRPr>
            </a:lvl6pPr>
            <a:lvl7pPr>
              <a:defRPr sz="2325" b="0">
                <a:solidFill>
                  <a:srgbClr val="243B53"/>
                </a:solidFill>
                <a:latin typeface="Arial"/>
                <a:ea typeface="Arial"/>
                <a:cs typeface="Arial"/>
              </a:defRPr>
            </a:lvl7pPr>
            <a:lvl8pPr>
              <a:defRPr sz="2325" b="0">
                <a:solidFill>
                  <a:srgbClr val="243B53"/>
                </a:solidFill>
                <a:latin typeface="Arial"/>
                <a:ea typeface="Arial"/>
                <a:cs typeface="Arial"/>
              </a:defRPr>
            </a:lvl8pPr>
            <a:lvl9pPr>
              <a:defRPr sz="2325" b="0">
                <a:solidFill>
                  <a:srgbClr val="243B53"/>
                </a:solidFill>
                <a:latin typeface="Arial"/>
                <a:ea typeface="Arial"/>
                <a:cs typeface="Arial"/>
              </a:defRPr>
            </a:lvl9pPr>
          </a:lstStyle>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Historical data, engineered features, and a trained ANN</a:t>
            </a:r>
          </a:p>
          <a:p xmlns:a="http://schemas.openxmlformats.org/drawingml/2006/main">
            <a:r>
              <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Saved artifacts support repeatable local predictions</a:t>
            </a:r>
          </a:p>
          <a:p xmlns:a="http://schemas.openxmlformats.org/drawingml/2006/main">
            <a:r>
              <a:t/>
            </a:r>
          </a:p>
          <a:p xmlns:a="http://schemas.openxmlformats.org/drawingml/2006/main">
            <a:pPr>
              <a:defRPr sz="2325" b="0">
                <a:solidFill>
                  <a:srgbClr val="243B53"/>
                </a:solidFill>
                <a:latin typeface="Arial"/>
                <a:ea typeface="Arial"/>
                <a:cs typeface="Arial"/>
              </a:defRPr>
            </a:pPr>
            <a:r>
              <a:rPr sz="2325" b="0">
                <a:solidFill>
                  <a:srgbClr val="243B53"/>
                </a:solidFill>
                <a:latin typeface="Arial"/>
                <a:ea typeface="Arial"/>
                <a:cs typeface="Arial"/>
              </a:rPr>
              <a:t>Recall and false alarms explain the tradeoff</a:t>
            </a:r>
          </a:p>
        </p:txBody>
      </p:sp>
      <p:sp>
        <p:nvSpPr>
          <p:cNvPr id="5" name="Questions">
            <a:extLst xmlns:a="http://schemas.openxmlformats.org/drawingml/2006/main">
              <a:ext uri="{FF2B5EF4-FFF2-40B4-BE49-F238E27FC236}">
                <a16:creationId xmlns:a16="http://schemas.microsoft.com/office/drawing/2014/main" id="{B55B6301-CE3B-4B7F-A65B-A2DC9C0EA9CC}"/>
              </a:ext>
            </a:extLst>
          </p:cNvPr>
          <p:cNvSpPr>
            <a:spLocks xmlns:a="http://schemas.openxmlformats.org/drawingml/2006/main" noGrp="1"/>
          </p:cNvSpPr>
          <p:nvPr/>
        </p:nvSpPr>
        <p:spPr>
          <a:xfrm xmlns:a="http://schemas.openxmlformats.org/drawingml/2006/main">
            <a:off x="762000" y="5305425"/>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0243A"/>
                </a:solidFill>
                <a:latin typeface="Arial"/>
                <a:ea typeface="Arial"/>
                <a:cs typeface="Arial"/>
              </a:defRPr>
            </a:defPPr>
            <a:lvl1pPr>
              <a:defRPr sz="3000" b="1">
                <a:solidFill>
                  <a:srgbClr val="10243A"/>
                </a:solidFill>
                <a:latin typeface="Arial"/>
                <a:ea typeface="Arial"/>
                <a:cs typeface="Arial"/>
              </a:defRPr>
            </a:lvl1pPr>
            <a:lvl2pPr>
              <a:defRPr sz="3000" b="1">
                <a:solidFill>
                  <a:srgbClr val="10243A"/>
                </a:solidFill>
                <a:latin typeface="Arial"/>
                <a:ea typeface="Arial"/>
                <a:cs typeface="Arial"/>
              </a:defRPr>
            </a:lvl2pPr>
            <a:lvl3pPr>
              <a:defRPr sz="3000" b="1">
                <a:solidFill>
                  <a:srgbClr val="10243A"/>
                </a:solidFill>
                <a:latin typeface="Arial"/>
                <a:ea typeface="Arial"/>
                <a:cs typeface="Arial"/>
              </a:defRPr>
            </a:lvl3pPr>
            <a:lvl4pPr>
              <a:defRPr sz="3000" b="1">
                <a:solidFill>
                  <a:srgbClr val="10243A"/>
                </a:solidFill>
                <a:latin typeface="Arial"/>
                <a:ea typeface="Arial"/>
                <a:cs typeface="Arial"/>
              </a:defRPr>
            </a:lvl4pPr>
            <a:lvl5pPr>
              <a:defRPr sz="3000" b="1">
                <a:solidFill>
                  <a:srgbClr val="10243A"/>
                </a:solidFill>
                <a:latin typeface="Arial"/>
                <a:ea typeface="Arial"/>
                <a:cs typeface="Arial"/>
              </a:defRPr>
            </a:lvl5pPr>
            <a:lvl6pPr>
              <a:defRPr sz="3000" b="1">
                <a:solidFill>
                  <a:srgbClr val="10243A"/>
                </a:solidFill>
                <a:latin typeface="Arial"/>
                <a:ea typeface="Arial"/>
                <a:cs typeface="Arial"/>
              </a:defRPr>
            </a:lvl6pPr>
            <a:lvl7pPr>
              <a:defRPr sz="3000" b="1">
                <a:solidFill>
                  <a:srgbClr val="10243A"/>
                </a:solidFill>
                <a:latin typeface="Arial"/>
                <a:ea typeface="Arial"/>
                <a:cs typeface="Arial"/>
              </a:defRPr>
            </a:lvl7pPr>
            <a:lvl8pPr>
              <a:defRPr sz="3000" b="1">
                <a:solidFill>
                  <a:srgbClr val="10243A"/>
                </a:solidFill>
                <a:latin typeface="Arial"/>
                <a:ea typeface="Arial"/>
                <a:cs typeface="Arial"/>
              </a:defRPr>
            </a:lvl8pPr>
            <a:lvl9pPr>
              <a:defRPr sz="3000" b="1">
                <a:solidFill>
                  <a:srgbClr val="10243A"/>
                </a:solidFill>
                <a:latin typeface="Arial"/>
                <a:ea typeface="Arial"/>
                <a:cs typeface="Arial"/>
              </a:defRPr>
            </a:lvl9pPr>
          </a:lstStyle>
          <a:p xmlns:a="http://schemas.openxmlformats.org/drawingml/2006/main">
            <a:pPr>
              <a:defRPr sz="3000" b="1">
                <a:solidFill>
                  <a:srgbClr val="10243A"/>
                </a:solidFill>
                <a:latin typeface="Arial"/>
                <a:ea typeface="Arial"/>
                <a:cs typeface="Arial"/>
              </a:defRPr>
            </a:pPr>
            <a:r>
              <a:rPr sz="3000" b="1">
                <a:solidFill>
                  <a:srgbClr val="10243A"/>
                </a:solidFill>
                <a:latin typeface="Arial"/>
                <a:ea typeface="Arial"/>
                <a:cs typeface="Arial"/>
              </a:rPr>
              <a:t>Questions</a:t>
            </a:r>
          </a:p>
        </p:txBody>
      </p:sp>
      <p:sp>
        <p:nvSpPr>
          <p:cNvPr id="6" name="github.com/ShabbirMhowwala/Bank-Churn-Rate">
            <a:extLst xmlns:a="http://schemas.openxmlformats.org/drawingml/2006/main">
              <a:ext uri="{FF2B5EF4-FFF2-40B4-BE49-F238E27FC236}">
                <a16:creationId xmlns:a16="http://schemas.microsoft.com/office/drawing/2014/main" id="{E59FB6FB-1441-42F0-98E3-2F6C085B44D6}"/>
              </a:ext>
            </a:extLst>
          </p:cNvPr>
          <p:cNvSpPr>
            <a:spLocks xmlns:a="http://schemas.openxmlformats.org/drawingml/2006/main" noGrp="1"/>
          </p:cNvSpPr>
          <p:nvPr/>
        </p:nvSpPr>
        <p:spPr>
          <a:xfrm xmlns:a="http://schemas.openxmlformats.org/drawingml/2006/main">
            <a:off x="762000" y="59817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57B"/>
                </a:solidFill>
                <a:latin typeface="Arial"/>
                <a:ea typeface="Arial"/>
                <a:cs typeface="Arial"/>
              </a:defRPr>
            </a:defPPr>
            <a:lvl1pPr>
              <a:defRPr sz="1650" b="0">
                <a:solidFill>
                  <a:srgbClr val="53657B"/>
                </a:solidFill>
                <a:latin typeface="Arial"/>
                <a:ea typeface="Arial"/>
                <a:cs typeface="Arial"/>
              </a:defRPr>
            </a:lvl1pPr>
            <a:lvl2pPr>
              <a:defRPr sz="1650" b="0">
                <a:solidFill>
                  <a:srgbClr val="53657B"/>
                </a:solidFill>
                <a:latin typeface="Arial"/>
                <a:ea typeface="Arial"/>
                <a:cs typeface="Arial"/>
              </a:defRPr>
            </a:lvl2pPr>
            <a:lvl3pPr>
              <a:defRPr sz="1650" b="0">
                <a:solidFill>
                  <a:srgbClr val="53657B"/>
                </a:solidFill>
                <a:latin typeface="Arial"/>
                <a:ea typeface="Arial"/>
                <a:cs typeface="Arial"/>
              </a:defRPr>
            </a:lvl3pPr>
            <a:lvl4pPr>
              <a:defRPr sz="1650" b="0">
                <a:solidFill>
                  <a:srgbClr val="53657B"/>
                </a:solidFill>
                <a:latin typeface="Arial"/>
                <a:ea typeface="Arial"/>
                <a:cs typeface="Arial"/>
              </a:defRPr>
            </a:lvl4pPr>
            <a:lvl5pPr>
              <a:defRPr sz="1650" b="0">
                <a:solidFill>
                  <a:srgbClr val="53657B"/>
                </a:solidFill>
                <a:latin typeface="Arial"/>
                <a:ea typeface="Arial"/>
                <a:cs typeface="Arial"/>
              </a:defRPr>
            </a:lvl5pPr>
            <a:lvl6pPr>
              <a:defRPr sz="1650" b="0">
                <a:solidFill>
                  <a:srgbClr val="53657B"/>
                </a:solidFill>
                <a:latin typeface="Arial"/>
                <a:ea typeface="Arial"/>
                <a:cs typeface="Arial"/>
              </a:defRPr>
            </a:lvl6pPr>
            <a:lvl7pPr>
              <a:defRPr sz="1650" b="0">
                <a:solidFill>
                  <a:srgbClr val="53657B"/>
                </a:solidFill>
                <a:latin typeface="Arial"/>
                <a:ea typeface="Arial"/>
                <a:cs typeface="Arial"/>
              </a:defRPr>
            </a:lvl7pPr>
            <a:lvl8pPr>
              <a:defRPr sz="1650" b="0">
                <a:solidFill>
                  <a:srgbClr val="53657B"/>
                </a:solidFill>
                <a:latin typeface="Arial"/>
                <a:ea typeface="Arial"/>
                <a:cs typeface="Arial"/>
              </a:defRPr>
            </a:lvl8pPr>
            <a:lvl9pPr>
              <a:defRPr sz="1650" b="0">
                <a:solidFill>
                  <a:srgbClr val="53657B"/>
                </a:solidFill>
                <a:latin typeface="Arial"/>
                <a:ea typeface="Arial"/>
                <a:cs typeface="Arial"/>
              </a:defRPr>
            </a:lvl9pPr>
          </a:lstStyle>
          <a:p xmlns:a="http://schemas.openxmlformats.org/drawingml/2006/main">
            <a:pPr>
              <a:defRPr sz="1650" b="0">
                <a:solidFill>
                  <a:srgbClr val="53657B"/>
                </a:solidFill>
                <a:latin typeface="Arial"/>
                <a:ea typeface="Arial"/>
                <a:cs typeface="Arial"/>
              </a:defRPr>
            </a:pPr>
            <a:r>
              <a:rPr sz="1650" b="0">
                <a:solidFill>
                  <a:srgbClr val="53657B"/>
                </a:solidFill>
                <a:latin typeface="Arial"/>
                <a:ea typeface="Arial"/>
                <a:cs typeface="Arial"/>
              </a:rPr>
              <a:t>github.com/ShabbirMhowwala/Bank-Churn-Rate-Predictor</a:t>
            </a:r>
          </a:p>
        </p:txBody>
      </p:sp>
    </p:spTree>
    <p:extLst>
      <p:ext uri="{BB962C8B-B14F-4D97-AF65-F5344CB8AC3E}">
        <p14:creationId xmlns:p14="http://schemas.microsoft.com/office/powerpoint/2010/main" val="6090428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2026-10-28T08:30:23.3500000Z</dcterms:created>
  <dcterms:modified xsi:type="dcterms:W3CDTF">2026-10-28T08:30:23.3500000Z</dcterms:modified>
</coreProperties>
</file>